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9" r:id="rId12"/>
    <p:sldId id="270" r:id="rId13"/>
    <p:sldId id="272" r:id="rId14"/>
  </p:sldIdLst>
  <p:sldSz cx="12192000" cy="6858000"/>
  <p:notesSz cx="6858000" cy="12192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9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614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E1DF1-5B99-CC50-30FD-B9B363486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DCA958-DEA1-F13D-329E-1C2F7B92B6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49348-D41A-714B-4527-26D432048F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C927FE-908A-6F79-7573-64C09750AB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770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7:02:50-d2slbem1bb2p4onbqkg0.png"/>
          <p:cNvPicPr>
            <a:picLocks noChangeAspect="1"/>
          </p:cNvPicPr>
          <p:nvPr/>
        </p:nvPicPr>
        <p:blipFill>
          <a:blip r:embed="rId3"/>
          <a:srcRect l="10" r="10"/>
          <a:stretch/>
        </p:blipFill>
        <p:spPr>
          <a:xfrm rot="21600000">
            <a:off x="-21590" y="0"/>
            <a:ext cx="12213590" cy="6870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9480" y="1820545"/>
            <a:ext cx="7026275" cy="212365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6600" b="1" dirty="0">
                <a:solidFill>
                  <a:srgbClr val="1E46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XXXXX</a:t>
            </a:r>
            <a:r>
              <a:rPr lang="zh-CN" altLang="en-US" sz="6600" b="1" dirty="0">
                <a:solidFill>
                  <a:srgbClr val="1E46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项目进度汇报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1124600" y="4224020"/>
            <a:ext cx="2417981" cy="502920"/>
          </a:xfrm>
          <a:prstGeom prst="roundRect">
            <a:avLst>
              <a:gd name="adj" fmla="val 50000"/>
            </a:avLst>
          </a:prstGeom>
          <a:solidFill>
            <a:srgbClr val="1E46EB"/>
          </a:solidFill>
          <a:ln/>
        </p:spPr>
      </p:sp>
      <p:sp>
        <p:nvSpPr>
          <p:cNvPr id="5" name="Text 2"/>
          <p:cNvSpPr/>
          <p:nvPr/>
        </p:nvSpPr>
        <p:spPr>
          <a:xfrm>
            <a:off x="1124600" y="4224020"/>
            <a:ext cx="2417981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85850" y="4276090"/>
            <a:ext cx="2496185" cy="4001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altLang="zh-CN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WK3-4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010040" y="4213860"/>
            <a:ext cx="2417981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033780" y="1459230"/>
            <a:ext cx="5783947" cy="0"/>
          </a:xfrm>
          <a:prstGeom prst="line">
            <a:avLst/>
          </a:prstGeom>
          <a:noFill/>
          <a:ln w="19050">
            <a:gradFill flip="none" rotWithShape="1">
              <a:gsLst>
                <a:gs pos="0">
                  <a:srgbClr val="1E46EB">
                    <a:alpha val="0"/>
                  </a:srgbClr>
                </a:gs>
                <a:gs pos="100000">
                  <a:srgbClr val="1E46EB"/>
                </a:gs>
              </a:gsLst>
              <a:lin ang="0" scaled="1"/>
            </a:gradFill>
            <a:prstDash val="solid"/>
            <a:headEnd type="none"/>
            <a:tailEnd type="none"/>
          </a:ln>
        </p:spPr>
      </p:sp>
      <p:sp>
        <p:nvSpPr>
          <p:cNvPr id="11" name="Shape 8"/>
          <p:cNvSpPr/>
          <p:nvPr/>
        </p:nvSpPr>
        <p:spPr>
          <a:xfrm>
            <a:off x="6939680" y="1367790"/>
            <a:ext cx="168857" cy="182880"/>
          </a:xfrm>
          <a:prstGeom prst="chevron">
            <a:avLst/>
          </a:prstGeom>
          <a:solidFill>
            <a:srgbClr val="1E46EB"/>
          </a:solidFill>
          <a:ln/>
        </p:spPr>
      </p:sp>
      <p:sp>
        <p:nvSpPr>
          <p:cNvPr id="12" name="Text 9"/>
          <p:cNvSpPr/>
          <p:nvPr/>
        </p:nvSpPr>
        <p:spPr>
          <a:xfrm>
            <a:off x="6939680" y="1367790"/>
            <a:ext cx="168857" cy="1828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113814" y="1367790"/>
            <a:ext cx="168857" cy="182880"/>
          </a:xfrm>
          <a:prstGeom prst="chevron">
            <a:avLst/>
          </a:prstGeom>
          <a:solidFill>
            <a:srgbClr val="1E46EB"/>
          </a:solidFill>
          <a:ln/>
        </p:spPr>
      </p:sp>
      <p:sp>
        <p:nvSpPr>
          <p:cNvPr id="14" name="Text 11"/>
          <p:cNvSpPr/>
          <p:nvPr/>
        </p:nvSpPr>
        <p:spPr>
          <a:xfrm>
            <a:off x="7113814" y="1367790"/>
            <a:ext cx="168857" cy="1828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287948" y="1367790"/>
            <a:ext cx="168857" cy="182880"/>
          </a:xfrm>
          <a:prstGeom prst="chevron">
            <a:avLst/>
          </a:prstGeom>
          <a:solidFill>
            <a:srgbClr val="1E46EB"/>
          </a:solidFill>
          <a:ln/>
        </p:spPr>
      </p:sp>
      <p:sp>
        <p:nvSpPr>
          <p:cNvPr id="16" name="Text 13"/>
          <p:cNvSpPr/>
          <p:nvPr/>
        </p:nvSpPr>
        <p:spPr>
          <a:xfrm>
            <a:off x="7287948" y="1367790"/>
            <a:ext cx="168857" cy="1828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2684008" y="5120283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18" name="Text 15"/>
          <p:cNvSpPr/>
          <p:nvPr/>
        </p:nvSpPr>
        <p:spPr>
          <a:xfrm>
            <a:off x="2684008" y="5120283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2504541" y="5120283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20" name="Text 17"/>
          <p:cNvSpPr/>
          <p:nvPr/>
        </p:nvSpPr>
        <p:spPr>
          <a:xfrm>
            <a:off x="2504541" y="5120283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2325074" y="5120283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22" name="Text 19"/>
          <p:cNvSpPr/>
          <p:nvPr/>
        </p:nvSpPr>
        <p:spPr>
          <a:xfrm>
            <a:off x="2325074" y="5120283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2145606" y="5120283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24" name="Text 21"/>
          <p:cNvSpPr/>
          <p:nvPr/>
        </p:nvSpPr>
        <p:spPr>
          <a:xfrm>
            <a:off x="2145606" y="5120283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1966139" y="5120283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26" name="Text 23"/>
          <p:cNvSpPr/>
          <p:nvPr/>
        </p:nvSpPr>
        <p:spPr>
          <a:xfrm>
            <a:off x="1966139" y="5120283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1786672" y="5120283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28" name="Text 25"/>
          <p:cNvSpPr/>
          <p:nvPr/>
        </p:nvSpPr>
        <p:spPr>
          <a:xfrm>
            <a:off x="1786672" y="5120283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1607204" y="5120283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30" name="Text 27"/>
          <p:cNvSpPr/>
          <p:nvPr/>
        </p:nvSpPr>
        <p:spPr>
          <a:xfrm>
            <a:off x="1607204" y="5120283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1427737" y="5120283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32" name="Text 29"/>
          <p:cNvSpPr/>
          <p:nvPr/>
        </p:nvSpPr>
        <p:spPr>
          <a:xfrm>
            <a:off x="1427737" y="5120283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2684008" y="5319770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34" name="Text 31"/>
          <p:cNvSpPr/>
          <p:nvPr/>
        </p:nvSpPr>
        <p:spPr>
          <a:xfrm>
            <a:off x="2684008" y="5319770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2504541" y="5319770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36" name="Text 33"/>
          <p:cNvSpPr/>
          <p:nvPr/>
        </p:nvSpPr>
        <p:spPr>
          <a:xfrm>
            <a:off x="2504541" y="5319770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2325074" y="5319770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38" name="Text 35"/>
          <p:cNvSpPr/>
          <p:nvPr/>
        </p:nvSpPr>
        <p:spPr>
          <a:xfrm>
            <a:off x="2325074" y="5319770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2145606" y="5319770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40" name="Text 37"/>
          <p:cNvSpPr/>
          <p:nvPr/>
        </p:nvSpPr>
        <p:spPr>
          <a:xfrm>
            <a:off x="2145606" y="5319770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1966139" y="5319770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42" name="Text 39"/>
          <p:cNvSpPr/>
          <p:nvPr/>
        </p:nvSpPr>
        <p:spPr>
          <a:xfrm>
            <a:off x="1966139" y="5319770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1786672" y="5319770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44" name="Text 41"/>
          <p:cNvSpPr/>
          <p:nvPr/>
        </p:nvSpPr>
        <p:spPr>
          <a:xfrm>
            <a:off x="1786672" y="5319770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1607204" y="5319770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46" name="Text 43"/>
          <p:cNvSpPr/>
          <p:nvPr/>
        </p:nvSpPr>
        <p:spPr>
          <a:xfrm>
            <a:off x="1607204" y="5319770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1427737" y="5319770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48" name="Text 45"/>
          <p:cNvSpPr/>
          <p:nvPr/>
        </p:nvSpPr>
        <p:spPr>
          <a:xfrm>
            <a:off x="1427737" y="5319770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2684008" y="5519257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50" name="Text 47"/>
          <p:cNvSpPr/>
          <p:nvPr/>
        </p:nvSpPr>
        <p:spPr>
          <a:xfrm>
            <a:off x="2684008" y="5519257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2504541" y="5519257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52" name="Text 49"/>
          <p:cNvSpPr/>
          <p:nvPr/>
        </p:nvSpPr>
        <p:spPr>
          <a:xfrm>
            <a:off x="2504541" y="5519257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2325074" y="5519257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54" name="Text 51"/>
          <p:cNvSpPr/>
          <p:nvPr/>
        </p:nvSpPr>
        <p:spPr>
          <a:xfrm>
            <a:off x="2325074" y="5519257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2145606" y="5519257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56" name="Text 53"/>
          <p:cNvSpPr/>
          <p:nvPr/>
        </p:nvSpPr>
        <p:spPr>
          <a:xfrm>
            <a:off x="2145606" y="5519257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7" name="Shape 54"/>
          <p:cNvSpPr/>
          <p:nvPr/>
        </p:nvSpPr>
        <p:spPr>
          <a:xfrm>
            <a:off x="1966139" y="5519257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58" name="Text 55"/>
          <p:cNvSpPr/>
          <p:nvPr/>
        </p:nvSpPr>
        <p:spPr>
          <a:xfrm>
            <a:off x="1966139" y="5519257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9" name="Shape 56"/>
          <p:cNvSpPr/>
          <p:nvPr/>
        </p:nvSpPr>
        <p:spPr>
          <a:xfrm>
            <a:off x="1786672" y="5519257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60" name="Text 57"/>
          <p:cNvSpPr/>
          <p:nvPr/>
        </p:nvSpPr>
        <p:spPr>
          <a:xfrm>
            <a:off x="1786672" y="5519257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1" name="Shape 58"/>
          <p:cNvSpPr/>
          <p:nvPr/>
        </p:nvSpPr>
        <p:spPr>
          <a:xfrm>
            <a:off x="1607204" y="5519257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62" name="Text 59"/>
          <p:cNvSpPr/>
          <p:nvPr/>
        </p:nvSpPr>
        <p:spPr>
          <a:xfrm>
            <a:off x="1607204" y="5519257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3" name="Shape 60"/>
          <p:cNvSpPr/>
          <p:nvPr/>
        </p:nvSpPr>
        <p:spPr>
          <a:xfrm>
            <a:off x="1427737" y="5519257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64" name="Text 61"/>
          <p:cNvSpPr/>
          <p:nvPr/>
        </p:nvSpPr>
        <p:spPr>
          <a:xfrm>
            <a:off x="1427737" y="5519257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5" name="Shape 62"/>
          <p:cNvSpPr/>
          <p:nvPr/>
        </p:nvSpPr>
        <p:spPr>
          <a:xfrm>
            <a:off x="2684008" y="5718185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66" name="Text 63"/>
          <p:cNvSpPr/>
          <p:nvPr/>
        </p:nvSpPr>
        <p:spPr>
          <a:xfrm>
            <a:off x="2684008" y="5718185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7" name="Shape 64"/>
          <p:cNvSpPr/>
          <p:nvPr/>
        </p:nvSpPr>
        <p:spPr>
          <a:xfrm>
            <a:off x="2504541" y="5718185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68" name="Text 65"/>
          <p:cNvSpPr/>
          <p:nvPr/>
        </p:nvSpPr>
        <p:spPr>
          <a:xfrm>
            <a:off x="2504541" y="5718185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9" name="Shape 66"/>
          <p:cNvSpPr/>
          <p:nvPr/>
        </p:nvSpPr>
        <p:spPr>
          <a:xfrm>
            <a:off x="2325074" y="5718185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70" name="Text 67"/>
          <p:cNvSpPr/>
          <p:nvPr/>
        </p:nvSpPr>
        <p:spPr>
          <a:xfrm>
            <a:off x="2325074" y="5718185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1" name="Shape 68"/>
          <p:cNvSpPr/>
          <p:nvPr/>
        </p:nvSpPr>
        <p:spPr>
          <a:xfrm>
            <a:off x="2145606" y="5718185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72" name="Text 69"/>
          <p:cNvSpPr/>
          <p:nvPr/>
        </p:nvSpPr>
        <p:spPr>
          <a:xfrm>
            <a:off x="2145606" y="5718185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3" name="Shape 70"/>
          <p:cNvSpPr/>
          <p:nvPr/>
        </p:nvSpPr>
        <p:spPr>
          <a:xfrm>
            <a:off x="1966139" y="5718185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74" name="Text 71"/>
          <p:cNvSpPr/>
          <p:nvPr/>
        </p:nvSpPr>
        <p:spPr>
          <a:xfrm>
            <a:off x="1966139" y="5718185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5" name="Shape 72"/>
          <p:cNvSpPr/>
          <p:nvPr/>
        </p:nvSpPr>
        <p:spPr>
          <a:xfrm>
            <a:off x="1786672" y="5718185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76" name="Text 73"/>
          <p:cNvSpPr/>
          <p:nvPr/>
        </p:nvSpPr>
        <p:spPr>
          <a:xfrm>
            <a:off x="1786672" y="5718185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7" name="Shape 74"/>
          <p:cNvSpPr/>
          <p:nvPr/>
        </p:nvSpPr>
        <p:spPr>
          <a:xfrm>
            <a:off x="1607204" y="5718185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78" name="Text 75"/>
          <p:cNvSpPr/>
          <p:nvPr/>
        </p:nvSpPr>
        <p:spPr>
          <a:xfrm>
            <a:off x="1607204" y="5718185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9" name="Shape 76"/>
          <p:cNvSpPr/>
          <p:nvPr/>
        </p:nvSpPr>
        <p:spPr>
          <a:xfrm>
            <a:off x="1427737" y="5718185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80" name="Text 77"/>
          <p:cNvSpPr/>
          <p:nvPr/>
        </p:nvSpPr>
        <p:spPr>
          <a:xfrm>
            <a:off x="1427737" y="5718185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1" name="Shape 78"/>
          <p:cNvSpPr/>
          <p:nvPr/>
        </p:nvSpPr>
        <p:spPr>
          <a:xfrm>
            <a:off x="2684008" y="5917672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82" name="Text 79"/>
          <p:cNvSpPr/>
          <p:nvPr/>
        </p:nvSpPr>
        <p:spPr>
          <a:xfrm>
            <a:off x="2684008" y="5917672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3" name="Shape 80"/>
          <p:cNvSpPr/>
          <p:nvPr/>
        </p:nvSpPr>
        <p:spPr>
          <a:xfrm>
            <a:off x="2504541" y="5917672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84" name="Text 81"/>
          <p:cNvSpPr/>
          <p:nvPr/>
        </p:nvSpPr>
        <p:spPr>
          <a:xfrm>
            <a:off x="2504541" y="5917672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5" name="Shape 82"/>
          <p:cNvSpPr/>
          <p:nvPr/>
        </p:nvSpPr>
        <p:spPr>
          <a:xfrm>
            <a:off x="2325074" y="5917672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86" name="Text 83"/>
          <p:cNvSpPr/>
          <p:nvPr/>
        </p:nvSpPr>
        <p:spPr>
          <a:xfrm>
            <a:off x="2325074" y="5917672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7" name="Shape 84"/>
          <p:cNvSpPr/>
          <p:nvPr/>
        </p:nvSpPr>
        <p:spPr>
          <a:xfrm>
            <a:off x="2145606" y="5917672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88" name="Text 85"/>
          <p:cNvSpPr/>
          <p:nvPr/>
        </p:nvSpPr>
        <p:spPr>
          <a:xfrm>
            <a:off x="2145606" y="5917672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9" name="Shape 86"/>
          <p:cNvSpPr/>
          <p:nvPr/>
        </p:nvSpPr>
        <p:spPr>
          <a:xfrm>
            <a:off x="1966139" y="5917672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90" name="Text 87"/>
          <p:cNvSpPr/>
          <p:nvPr/>
        </p:nvSpPr>
        <p:spPr>
          <a:xfrm>
            <a:off x="1966139" y="5917672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1" name="Shape 88"/>
          <p:cNvSpPr/>
          <p:nvPr/>
        </p:nvSpPr>
        <p:spPr>
          <a:xfrm>
            <a:off x="1786672" y="5917672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92" name="Text 89"/>
          <p:cNvSpPr/>
          <p:nvPr/>
        </p:nvSpPr>
        <p:spPr>
          <a:xfrm>
            <a:off x="1786672" y="5917672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3" name="Shape 90"/>
          <p:cNvSpPr/>
          <p:nvPr/>
        </p:nvSpPr>
        <p:spPr>
          <a:xfrm>
            <a:off x="1607204" y="5917672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94" name="Text 91"/>
          <p:cNvSpPr/>
          <p:nvPr/>
        </p:nvSpPr>
        <p:spPr>
          <a:xfrm>
            <a:off x="1607204" y="5917672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5" name="Shape 92"/>
          <p:cNvSpPr/>
          <p:nvPr/>
        </p:nvSpPr>
        <p:spPr>
          <a:xfrm>
            <a:off x="1427737" y="5917672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96" name="Text 93"/>
          <p:cNvSpPr/>
          <p:nvPr/>
        </p:nvSpPr>
        <p:spPr>
          <a:xfrm>
            <a:off x="1427737" y="5917672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7" name="Shape 94"/>
          <p:cNvSpPr/>
          <p:nvPr/>
        </p:nvSpPr>
        <p:spPr>
          <a:xfrm>
            <a:off x="2684008" y="6117159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98" name="Text 95"/>
          <p:cNvSpPr/>
          <p:nvPr/>
        </p:nvSpPr>
        <p:spPr>
          <a:xfrm>
            <a:off x="2684008" y="6117159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9" name="Shape 96"/>
          <p:cNvSpPr/>
          <p:nvPr/>
        </p:nvSpPr>
        <p:spPr>
          <a:xfrm>
            <a:off x="2504541" y="6117159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100" name="Text 97"/>
          <p:cNvSpPr/>
          <p:nvPr/>
        </p:nvSpPr>
        <p:spPr>
          <a:xfrm>
            <a:off x="2504541" y="6117159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1" name="Shape 98"/>
          <p:cNvSpPr/>
          <p:nvPr/>
        </p:nvSpPr>
        <p:spPr>
          <a:xfrm>
            <a:off x="2325074" y="6117159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102" name="Text 99"/>
          <p:cNvSpPr/>
          <p:nvPr/>
        </p:nvSpPr>
        <p:spPr>
          <a:xfrm>
            <a:off x="2325074" y="6117159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3" name="Shape 100"/>
          <p:cNvSpPr/>
          <p:nvPr/>
        </p:nvSpPr>
        <p:spPr>
          <a:xfrm>
            <a:off x="2145606" y="6117159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104" name="Text 101"/>
          <p:cNvSpPr/>
          <p:nvPr/>
        </p:nvSpPr>
        <p:spPr>
          <a:xfrm>
            <a:off x="2145606" y="6117159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5" name="Shape 102"/>
          <p:cNvSpPr/>
          <p:nvPr/>
        </p:nvSpPr>
        <p:spPr>
          <a:xfrm>
            <a:off x="1966139" y="6117159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106" name="Text 103"/>
          <p:cNvSpPr/>
          <p:nvPr/>
        </p:nvSpPr>
        <p:spPr>
          <a:xfrm>
            <a:off x="1966139" y="6117159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7" name="Shape 104"/>
          <p:cNvSpPr/>
          <p:nvPr/>
        </p:nvSpPr>
        <p:spPr>
          <a:xfrm>
            <a:off x="1786672" y="6117159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108" name="Text 105"/>
          <p:cNvSpPr/>
          <p:nvPr/>
        </p:nvSpPr>
        <p:spPr>
          <a:xfrm>
            <a:off x="1786672" y="6117159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9" name="Shape 106"/>
          <p:cNvSpPr/>
          <p:nvPr/>
        </p:nvSpPr>
        <p:spPr>
          <a:xfrm>
            <a:off x="1607204" y="6117159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110" name="Text 107"/>
          <p:cNvSpPr/>
          <p:nvPr/>
        </p:nvSpPr>
        <p:spPr>
          <a:xfrm>
            <a:off x="1607204" y="6117159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1" name="Shape 108"/>
          <p:cNvSpPr/>
          <p:nvPr/>
        </p:nvSpPr>
        <p:spPr>
          <a:xfrm>
            <a:off x="1427737" y="6117159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112" name="Text 109"/>
          <p:cNvSpPr/>
          <p:nvPr/>
        </p:nvSpPr>
        <p:spPr>
          <a:xfrm>
            <a:off x="1427737" y="6117159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3" name="Shape 110"/>
          <p:cNvSpPr/>
          <p:nvPr/>
        </p:nvSpPr>
        <p:spPr>
          <a:xfrm>
            <a:off x="4120138" y="5120283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114" name="Text 111"/>
          <p:cNvSpPr/>
          <p:nvPr/>
        </p:nvSpPr>
        <p:spPr>
          <a:xfrm>
            <a:off x="4120138" y="5120283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5" name="Shape 112"/>
          <p:cNvSpPr/>
          <p:nvPr/>
        </p:nvSpPr>
        <p:spPr>
          <a:xfrm>
            <a:off x="3940670" y="5120283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116" name="Text 113"/>
          <p:cNvSpPr/>
          <p:nvPr/>
        </p:nvSpPr>
        <p:spPr>
          <a:xfrm>
            <a:off x="3940670" y="5120283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7" name="Shape 114"/>
          <p:cNvSpPr/>
          <p:nvPr/>
        </p:nvSpPr>
        <p:spPr>
          <a:xfrm>
            <a:off x="3761203" y="5120283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118" name="Text 115"/>
          <p:cNvSpPr/>
          <p:nvPr/>
        </p:nvSpPr>
        <p:spPr>
          <a:xfrm>
            <a:off x="3761203" y="5120283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9" name="Shape 116"/>
          <p:cNvSpPr/>
          <p:nvPr/>
        </p:nvSpPr>
        <p:spPr>
          <a:xfrm>
            <a:off x="3581735" y="5120283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120" name="Text 117"/>
          <p:cNvSpPr/>
          <p:nvPr/>
        </p:nvSpPr>
        <p:spPr>
          <a:xfrm>
            <a:off x="3581735" y="5120283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1" name="Shape 118"/>
          <p:cNvSpPr/>
          <p:nvPr/>
        </p:nvSpPr>
        <p:spPr>
          <a:xfrm>
            <a:off x="3402268" y="5120283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122" name="Text 119"/>
          <p:cNvSpPr/>
          <p:nvPr/>
        </p:nvSpPr>
        <p:spPr>
          <a:xfrm>
            <a:off x="3402268" y="5120283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3" name="Shape 120"/>
          <p:cNvSpPr/>
          <p:nvPr/>
        </p:nvSpPr>
        <p:spPr>
          <a:xfrm>
            <a:off x="3222801" y="5120283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124" name="Text 121"/>
          <p:cNvSpPr/>
          <p:nvPr/>
        </p:nvSpPr>
        <p:spPr>
          <a:xfrm>
            <a:off x="3222801" y="5120283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5" name="Shape 122"/>
          <p:cNvSpPr/>
          <p:nvPr/>
        </p:nvSpPr>
        <p:spPr>
          <a:xfrm>
            <a:off x="3043333" y="5120283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126" name="Text 123"/>
          <p:cNvSpPr/>
          <p:nvPr/>
        </p:nvSpPr>
        <p:spPr>
          <a:xfrm>
            <a:off x="3043333" y="5120283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7" name="Shape 124"/>
          <p:cNvSpPr/>
          <p:nvPr/>
        </p:nvSpPr>
        <p:spPr>
          <a:xfrm>
            <a:off x="2863866" y="5120283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128" name="Text 125"/>
          <p:cNvSpPr/>
          <p:nvPr/>
        </p:nvSpPr>
        <p:spPr>
          <a:xfrm>
            <a:off x="2863866" y="5120283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9" name="Shape 126"/>
          <p:cNvSpPr/>
          <p:nvPr/>
        </p:nvSpPr>
        <p:spPr>
          <a:xfrm>
            <a:off x="4120138" y="5319770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130" name="Text 127"/>
          <p:cNvSpPr/>
          <p:nvPr/>
        </p:nvSpPr>
        <p:spPr>
          <a:xfrm>
            <a:off x="4120138" y="5319770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1" name="Shape 128"/>
          <p:cNvSpPr/>
          <p:nvPr/>
        </p:nvSpPr>
        <p:spPr>
          <a:xfrm>
            <a:off x="3940670" y="5319770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132" name="Text 129"/>
          <p:cNvSpPr/>
          <p:nvPr/>
        </p:nvSpPr>
        <p:spPr>
          <a:xfrm>
            <a:off x="3940670" y="5319770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3" name="Shape 130"/>
          <p:cNvSpPr/>
          <p:nvPr/>
        </p:nvSpPr>
        <p:spPr>
          <a:xfrm>
            <a:off x="3761203" y="5319770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134" name="Text 131"/>
          <p:cNvSpPr/>
          <p:nvPr/>
        </p:nvSpPr>
        <p:spPr>
          <a:xfrm>
            <a:off x="3761203" y="5319770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5" name="Shape 132"/>
          <p:cNvSpPr/>
          <p:nvPr/>
        </p:nvSpPr>
        <p:spPr>
          <a:xfrm>
            <a:off x="3581735" y="5319770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136" name="Text 133"/>
          <p:cNvSpPr/>
          <p:nvPr/>
        </p:nvSpPr>
        <p:spPr>
          <a:xfrm>
            <a:off x="3581735" y="5319770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7" name="Shape 134"/>
          <p:cNvSpPr/>
          <p:nvPr/>
        </p:nvSpPr>
        <p:spPr>
          <a:xfrm>
            <a:off x="3402268" y="5319770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138" name="Text 135"/>
          <p:cNvSpPr/>
          <p:nvPr/>
        </p:nvSpPr>
        <p:spPr>
          <a:xfrm>
            <a:off x="3402268" y="5319770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9" name="Shape 136"/>
          <p:cNvSpPr/>
          <p:nvPr/>
        </p:nvSpPr>
        <p:spPr>
          <a:xfrm>
            <a:off x="3222801" y="5319770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140" name="Text 137"/>
          <p:cNvSpPr/>
          <p:nvPr/>
        </p:nvSpPr>
        <p:spPr>
          <a:xfrm>
            <a:off x="3222801" y="5319770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1" name="Shape 138"/>
          <p:cNvSpPr/>
          <p:nvPr/>
        </p:nvSpPr>
        <p:spPr>
          <a:xfrm>
            <a:off x="3043333" y="5319770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142" name="Text 139"/>
          <p:cNvSpPr/>
          <p:nvPr/>
        </p:nvSpPr>
        <p:spPr>
          <a:xfrm>
            <a:off x="3043333" y="5319770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3" name="Shape 140"/>
          <p:cNvSpPr/>
          <p:nvPr/>
        </p:nvSpPr>
        <p:spPr>
          <a:xfrm>
            <a:off x="2863866" y="5319770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144" name="Text 141"/>
          <p:cNvSpPr/>
          <p:nvPr/>
        </p:nvSpPr>
        <p:spPr>
          <a:xfrm>
            <a:off x="2863866" y="5319770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5" name="Shape 142"/>
          <p:cNvSpPr/>
          <p:nvPr/>
        </p:nvSpPr>
        <p:spPr>
          <a:xfrm>
            <a:off x="4120138" y="5519257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146" name="Text 143"/>
          <p:cNvSpPr/>
          <p:nvPr/>
        </p:nvSpPr>
        <p:spPr>
          <a:xfrm>
            <a:off x="4120138" y="5519257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7" name="Shape 144"/>
          <p:cNvSpPr/>
          <p:nvPr/>
        </p:nvSpPr>
        <p:spPr>
          <a:xfrm>
            <a:off x="3940670" y="5519257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148" name="Text 145"/>
          <p:cNvSpPr/>
          <p:nvPr/>
        </p:nvSpPr>
        <p:spPr>
          <a:xfrm>
            <a:off x="3940670" y="5519257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9" name="Shape 146"/>
          <p:cNvSpPr/>
          <p:nvPr/>
        </p:nvSpPr>
        <p:spPr>
          <a:xfrm>
            <a:off x="3761203" y="5519257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150" name="Text 147"/>
          <p:cNvSpPr/>
          <p:nvPr/>
        </p:nvSpPr>
        <p:spPr>
          <a:xfrm>
            <a:off x="3761203" y="5519257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1" name="Shape 148"/>
          <p:cNvSpPr/>
          <p:nvPr/>
        </p:nvSpPr>
        <p:spPr>
          <a:xfrm>
            <a:off x="3581735" y="5519257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152" name="Text 149"/>
          <p:cNvSpPr/>
          <p:nvPr/>
        </p:nvSpPr>
        <p:spPr>
          <a:xfrm>
            <a:off x="3581735" y="5519257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3" name="Shape 150"/>
          <p:cNvSpPr/>
          <p:nvPr/>
        </p:nvSpPr>
        <p:spPr>
          <a:xfrm>
            <a:off x="3402268" y="5519257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154" name="Text 151"/>
          <p:cNvSpPr/>
          <p:nvPr/>
        </p:nvSpPr>
        <p:spPr>
          <a:xfrm>
            <a:off x="3402268" y="5519257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5" name="Shape 152"/>
          <p:cNvSpPr/>
          <p:nvPr/>
        </p:nvSpPr>
        <p:spPr>
          <a:xfrm>
            <a:off x="3222801" y="5519257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156" name="Text 153"/>
          <p:cNvSpPr/>
          <p:nvPr/>
        </p:nvSpPr>
        <p:spPr>
          <a:xfrm>
            <a:off x="3222801" y="5519257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7" name="Shape 154"/>
          <p:cNvSpPr/>
          <p:nvPr/>
        </p:nvSpPr>
        <p:spPr>
          <a:xfrm>
            <a:off x="3043333" y="5519257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158" name="Text 155"/>
          <p:cNvSpPr/>
          <p:nvPr/>
        </p:nvSpPr>
        <p:spPr>
          <a:xfrm>
            <a:off x="3043333" y="5519257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9" name="Shape 156"/>
          <p:cNvSpPr/>
          <p:nvPr/>
        </p:nvSpPr>
        <p:spPr>
          <a:xfrm>
            <a:off x="2863866" y="5519257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160" name="Text 157"/>
          <p:cNvSpPr/>
          <p:nvPr/>
        </p:nvSpPr>
        <p:spPr>
          <a:xfrm>
            <a:off x="2863866" y="5519257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1" name="Shape 158"/>
          <p:cNvSpPr/>
          <p:nvPr/>
        </p:nvSpPr>
        <p:spPr>
          <a:xfrm>
            <a:off x="4120138" y="5718185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162" name="Text 159"/>
          <p:cNvSpPr/>
          <p:nvPr/>
        </p:nvSpPr>
        <p:spPr>
          <a:xfrm>
            <a:off x="4120138" y="5718185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3" name="Shape 160"/>
          <p:cNvSpPr/>
          <p:nvPr/>
        </p:nvSpPr>
        <p:spPr>
          <a:xfrm>
            <a:off x="3940670" y="5718185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164" name="Text 161"/>
          <p:cNvSpPr/>
          <p:nvPr/>
        </p:nvSpPr>
        <p:spPr>
          <a:xfrm>
            <a:off x="3940670" y="5718185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5" name="Shape 162"/>
          <p:cNvSpPr/>
          <p:nvPr/>
        </p:nvSpPr>
        <p:spPr>
          <a:xfrm>
            <a:off x="3761203" y="5718185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166" name="Text 163"/>
          <p:cNvSpPr/>
          <p:nvPr/>
        </p:nvSpPr>
        <p:spPr>
          <a:xfrm>
            <a:off x="3761203" y="5718185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7" name="Shape 164"/>
          <p:cNvSpPr/>
          <p:nvPr/>
        </p:nvSpPr>
        <p:spPr>
          <a:xfrm>
            <a:off x="3581735" y="5718185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168" name="Text 165"/>
          <p:cNvSpPr/>
          <p:nvPr/>
        </p:nvSpPr>
        <p:spPr>
          <a:xfrm>
            <a:off x="3581735" y="5718185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9" name="Shape 166"/>
          <p:cNvSpPr/>
          <p:nvPr/>
        </p:nvSpPr>
        <p:spPr>
          <a:xfrm>
            <a:off x="3402268" y="5718185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170" name="Text 167"/>
          <p:cNvSpPr/>
          <p:nvPr/>
        </p:nvSpPr>
        <p:spPr>
          <a:xfrm>
            <a:off x="3402268" y="5718185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1" name="Shape 168"/>
          <p:cNvSpPr/>
          <p:nvPr/>
        </p:nvSpPr>
        <p:spPr>
          <a:xfrm>
            <a:off x="3222801" y="5718185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172" name="Text 169"/>
          <p:cNvSpPr/>
          <p:nvPr/>
        </p:nvSpPr>
        <p:spPr>
          <a:xfrm>
            <a:off x="3222801" y="5718185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3" name="Shape 170"/>
          <p:cNvSpPr/>
          <p:nvPr/>
        </p:nvSpPr>
        <p:spPr>
          <a:xfrm>
            <a:off x="3043333" y="5718185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174" name="Text 171"/>
          <p:cNvSpPr/>
          <p:nvPr/>
        </p:nvSpPr>
        <p:spPr>
          <a:xfrm>
            <a:off x="3043333" y="5718185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5" name="Shape 172"/>
          <p:cNvSpPr/>
          <p:nvPr/>
        </p:nvSpPr>
        <p:spPr>
          <a:xfrm>
            <a:off x="2863866" y="5718185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176" name="Text 173"/>
          <p:cNvSpPr/>
          <p:nvPr/>
        </p:nvSpPr>
        <p:spPr>
          <a:xfrm>
            <a:off x="2863866" y="5718185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7" name="Shape 174"/>
          <p:cNvSpPr/>
          <p:nvPr/>
        </p:nvSpPr>
        <p:spPr>
          <a:xfrm>
            <a:off x="4120138" y="5917672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178" name="Text 175"/>
          <p:cNvSpPr/>
          <p:nvPr/>
        </p:nvSpPr>
        <p:spPr>
          <a:xfrm>
            <a:off x="4120138" y="5917672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9" name="Shape 176"/>
          <p:cNvSpPr/>
          <p:nvPr/>
        </p:nvSpPr>
        <p:spPr>
          <a:xfrm>
            <a:off x="3940670" y="5917672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180" name="Text 177"/>
          <p:cNvSpPr/>
          <p:nvPr/>
        </p:nvSpPr>
        <p:spPr>
          <a:xfrm>
            <a:off x="3940670" y="5917672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1" name="Shape 178"/>
          <p:cNvSpPr/>
          <p:nvPr/>
        </p:nvSpPr>
        <p:spPr>
          <a:xfrm>
            <a:off x="3761203" y="5917672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182" name="Text 179"/>
          <p:cNvSpPr/>
          <p:nvPr/>
        </p:nvSpPr>
        <p:spPr>
          <a:xfrm>
            <a:off x="3761203" y="5917672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3" name="Shape 180"/>
          <p:cNvSpPr/>
          <p:nvPr/>
        </p:nvSpPr>
        <p:spPr>
          <a:xfrm>
            <a:off x="3581735" y="5917672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184" name="Text 181"/>
          <p:cNvSpPr/>
          <p:nvPr/>
        </p:nvSpPr>
        <p:spPr>
          <a:xfrm>
            <a:off x="3581735" y="5917672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5" name="Shape 182"/>
          <p:cNvSpPr/>
          <p:nvPr/>
        </p:nvSpPr>
        <p:spPr>
          <a:xfrm>
            <a:off x="3402268" y="5917672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186" name="Text 183"/>
          <p:cNvSpPr/>
          <p:nvPr/>
        </p:nvSpPr>
        <p:spPr>
          <a:xfrm>
            <a:off x="3402268" y="5917672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7" name="Shape 184"/>
          <p:cNvSpPr/>
          <p:nvPr/>
        </p:nvSpPr>
        <p:spPr>
          <a:xfrm>
            <a:off x="3222801" y="5917672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188" name="Text 185"/>
          <p:cNvSpPr/>
          <p:nvPr/>
        </p:nvSpPr>
        <p:spPr>
          <a:xfrm>
            <a:off x="3222801" y="5917672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9" name="Shape 186"/>
          <p:cNvSpPr/>
          <p:nvPr/>
        </p:nvSpPr>
        <p:spPr>
          <a:xfrm>
            <a:off x="3043333" y="5917672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190" name="Text 187"/>
          <p:cNvSpPr/>
          <p:nvPr/>
        </p:nvSpPr>
        <p:spPr>
          <a:xfrm>
            <a:off x="3043333" y="5917672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91" name="Shape 188"/>
          <p:cNvSpPr/>
          <p:nvPr/>
        </p:nvSpPr>
        <p:spPr>
          <a:xfrm>
            <a:off x="2863866" y="5917672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192" name="Text 189"/>
          <p:cNvSpPr/>
          <p:nvPr/>
        </p:nvSpPr>
        <p:spPr>
          <a:xfrm>
            <a:off x="2863866" y="5917672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93" name="Shape 190"/>
          <p:cNvSpPr/>
          <p:nvPr/>
        </p:nvSpPr>
        <p:spPr>
          <a:xfrm>
            <a:off x="4120138" y="6117159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194" name="Text 191"/>
          <p:cNvSpPr/>
          <p:nvPr/>
        </p:nvSpPr>
        <p:spPr>
          <a:xfrm>
            <a:off x="4120138" y="6117159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95" name="Shape 192"/>
          <p:cNvSpPr/>
          <p:nvPr/>
        </p:nvSpPr>
        <p:spPr>
          <a:xfrm>
            <a:off x="3940670" y="6117159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196" name="Text 193"/>
          <p:cNvSpPr/>
          <p:nvPr/>
        </p:nvSpPr>
        <p:spPr>
          <a:xfrm>
            <a:off x="3940670" y="6117159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97" name="Shape 194"/>
          <p:cNvSpPr/>
          <p:nvPr/>
        </p:nvSpPr>
        <p:spPr>
          <a:xfrm>
            <a:off x="3761203" y="6117159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198" name="Text 195"/>
          <p:cNvSpPr/>
          <p:nvPr/>
        </p:nvSpPr>
        <p:spPr>
          <a:xfrm>
            <a:off x="3761203" y="6117159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99" name="Shape 196"/>
          <p:cNvSpPr/>
          <p:nvPr/>
        </p:nvSpPr>
        <p:spPr>
          <a:xfrm>
            <a:off x="3581735" y="6117159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200" name="Text 197"/>
          <p:cNvSpPr/>
          <p:nvPr/>
        </p:nvSpPr>
        <p:spPr>
          <a:xfrm>
            <a:off x="3581735" y="6117159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01" name="Shape 198"/>
          <p:cNvSpPr/>
          <p:nvPr/>
        </p:nvSpPr>
        <p:spPr>
          <a:xfrm>
            <a:off x="3402268" y="6117159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202" name="Text 199"/>
          <p:cNvSpPr/>
          <p:nvPr/>
        </p:nvSpPr>
        <p:spPr>
          <a:xfrm>
            <a:off x="3402268" y="6117159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03" name="Shape 200"/>
          <p:cNvSpPr/>
          <p:nvPr/>
        </p:nvSpPr>
        <p:spPr>
          <a:xfrm>
            <a:off x="3222801" y="6117159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204" name="Text 201"/>
          <p:cNvSpPr/>
          <p:nvPr/>
        </p:nvSpPr>
        <p:spPr>
          <a:xfrm>
            <a:off x="3222801" y="6117159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05" name="Shape 202"/>
          <p:cNvSpPr/>
          <p:nvPr/>
        </p:nvSpPr>
        <p:spPr>
          <a:xfrm>
            <a:off x="3043333" y="6117159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206" name="Text 203"/>
          <p:cNvSpPr/>
          <p:nvPr/>
        </p:nvSpPr>
        <p:spPr>
          <a:xfrm>
            <a:off x="3043333" y="6117159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07" name="Shape 204"/>
          <p:cNvSpPr/>
          <p:nvPr/>
        </p:nvSpPr>
        <p:spPr>
          <a:xfrm>
            <a:off x="2863866" y="6117159"/>
            <a:ext cx="97232" cy="97669"/>
          </a:xfrm>
          <a:prstGeom prst="ellipse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5000">
                <a:srgbClr val="1E46EB">
                  <a:alpha val="0"/>
                </a:srgbClr>
              </a:gs>
              <a:gs pos="67000">
                <a:srgbClr val="1CA97E"/>
              </a:gs>
              <a:gs pos="100000">
                <a:srgbClr val="1E46EB"/>
              </a:gs>
            </a:gsLst>
            <a:lin ang="10800000" scaled="1"/>
          </a:gradFill>
          <a:ln/>
        </p:spPr>
      </p:sp>
      <p:sp>
        <p:nvSpPr>
          <p:cNvPr id="208" name="Text 205"/>
          <p:cNvSpPr/>
          <p:nvPr/>
        </p:nvSpPr>
        <p:spPr>
          <a:xfrm>
            <a:off x="2863866" y="6117159"/>
            <a:ext cx="97232" cy="976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09" name="Shape 206"/>
          <p:cNvSpPr/>
          <p:nvPr/>
        </p:nvSpPr>
        <p:spPr>
          <a:xfrm>
            <a:off x="318" y="6584950"/>
            <a:ext cx="12191365" cy="152400"/>
          </a:xfrm>
          <a:prstGeom prst="rect">
            <a:avLst/>
          </a:prstGeom>
          <a:solidFill>
            <a:srgbClr val="1CA97E"/>
          </a:solidFill>
          <a:ln/>
        </p:spPr>
      </p:sp>
      <p:sp>
        <p:nvSpPr>
          <p:cNvPr id="210" name="Text 207"/>
          <p:cNvSpPr/>
          <p:nvPr/>
        </p:nvSpPr>
        <p:spPr>
          <a:xfrm>
            <a:off x="318" y="6584950"/>
            <a:ext cx="12191365" cy="152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11" name="Shape 208"/>
          <p:cNvSpPr/>
          <p:nvPr/>
        </p:nvSpPr>
        <p:spPr>
          <a:xfrm>
            <a:off x="318" y="6705600"/>
            <a:ext cx="12191365" cy="152400"/>
          </a:xfrm>
          <a:prstGeom prst="rect">
            <a:avLst/>
          </a:prstGeom>
          <a:solidFill>
            <a:srgbClr val="1E46EB"/>
          </a:solidFill>
          <a:ln/>
        </p:spPr>
      </p:sp>
      <p:sp>
        <p:nvSpPr>
          <p:cNvPr id="212" name="Text 209"/>
          <p:cNvSpPr/>
          <p:nvPr/>
        </p:nvSpPr>
        <p:spPr>
          <a:xfrm>
            <a:off x="318" y="6705600"/>
            <a:ext cx="12191365" cy="152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7:02:49-d2slbee1bb2p4onbqke0.png"/>
          <p:cNvPicPr>
            <a:picLocks noChangeAspect="1"/>
          </p:cNvPicPr>
          <p:nvPr/>
        </p:nvPicPr>
        <p:blipFill>
          <a:blip r:embed="rId3"/>
          <a:srcRect l="50" r="50"/>
          <a:stretch/>
        </p:blipFill>
        <p:spPr>
          <a:xfrm>
            <a:off x="0" y="-13970"/>
            <a:ext cx="3799840" cy="687197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928620" y="720090"/>
            <a:ext cx="2698115" cy="11080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2928620" y="720090"/>
            <a:ext cx="2698115" cy="1108075"/>
          </a:xfrm>
          <a:prstGeom prst="rect">
            <a:avLst/>
          </a:prstGeom>
          <a:noFill/>
          <a:ln/>
        </p:spPr>
        <p:txBody>
          <a:bodyPr wrap="square" lIns="46863" tIns="90043" rIns="90043" bIns="46863" rtlCol="0" anchor="b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600" dirty="0">
                <a:solidFill>
                  <a:srgbClr val="1E46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966970" y="1094105"/>
            <a:ext cx="2884805" cy="4994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E46EB">
                    <a:alpha val="54902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 rot="19740000" flipV="1">
            <a:off x="11590020" y="-875665"/>
            <a:ext cx="1047115" cy="2880995"/>
          </a:xfrm>
          <a:prstGeom prst="rect">
            <a:avLst/>
          </a:prstGeom>
          <a:gradFill flip="none" rotWithShape="1">
            <a:gsLst>
              <a:gs pos="0">
                <a:srgbClr val="1E46EB">
                  <a:alpha val="0"/>
                </a:srgbClr>
              </a:gs>
              <a:gs pos="36000">
                <a:srgbClr val="1E46EB">
                  <a:alpha val="0"/>
                </a:srgbClr>
              </a:gs>
              <a:gs pos="100000">
                <a:srgbClr val="1E46EB"/>
              </a:gs>
            </a:gsLst>
            <a:lin ang="2700000" scaled="1"/>
          </a:gradFill>
          <a:ln/>
        </p:spPr>
      </p:sp>
      <p:sp>
        <p:nvSpPr>
          <p:cNvPr id="7" name="Text 4"/>
          <p:cNvSpPr/>
          <p:nvPr/>
        </p:nvSpPr>
        <p:spPr>
          <a:xfrm rot="19740000">
            <a:off x="11590020" y="-875665"/>
            <a:ext cx="1047115" cy="28809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18" y="6584950"/>
            <a:ext cx="12191365" cy="152400"/>
          </a:xfrm>
          <a:prstGeom prst="rect">
            <a:avLst/>
          </a:prstGeom>
          <a:solidFill>
            <a:srgbClr val="1CA97E"/>
          </a:solidFill>
          <a:ln/>
        </p:spPr>
      </p:sp>
      <p:sp>
        <p:nvSpPr>
          <p:cNvPr id="9" name="Text 6"/>
          <p:cNvSpPr/>
          <p:nvPr/>
        </p:nvSpPr>
        <p:spPr>
          <a:xfrm>
            <a:off x="318" y="6584950"/>
            <a:ext cx="12191365" cy="152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18" y="6705600"/>
            <a:ext cx="12191365" cy="152400"/>
          </a:xfrm>
          <a:prstGeom prst="rect">
            <a:avLst/>
          </a:prstGeom>
          <a:solidFill>
            <a:srgbClr val="1E46EB"/>
          </a:solidFill>
          <a:ln/>
        </p:spPr>
      </p:sp>
      <p:sp>
        <p:nvSpPr>
          <p:cNvPr id="11" name="Text 8"/>
          <p:cNvSpPr/>
          <p:nvPr/>
        </p:nvSpPr>
        <p:spPr>
          <a:xfrm>
            <a:off x="318" y="6705600"/>
            <a:ext cx="12191365" cy="152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853565" y="507365"/>
            <a:ext cx="1917700" cy="5969000"/>
          </a:xfrm>
          <a:custGeom>
            <a:avLst/>
            <a:gdLst/>
            <a:ahLst/>
            <a:cxnLst/>
            <a:rect l="l" t="t" r="r" b="b"/>
            <a:pathLst>
              <a:path w="1917700" h="5969000">
                <a:moveTo>
                  <a:pt x="0" y="0"/>
                </a:moveTo>
                <a:cubicBezTo>
                  <a:pt x="296787" y="621030"/>
                  <a:pt x="754524" y="1524635"/>
                  <a:pt x="1221963" y="2743835"/>
                </a:cubicBezTo>
                <a:cubicBezTo>
                  <a:pt x="1689402" y="3963035"/>
                  <a:pt x="1849211" y="5410200"/>
                  <a:pt x="1917700" y="5969000"/>
                </a:cubicBezTo>
              </a:path>
            </a:pathLst>
          </a:cu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1031B7">
                    <a:alpha val="0"/>
                  </a:srgbClr>
                </a:gs>
                <a:gs pos="14000">
                  <a:srgbClr val="1031B7">
                    <a:alpha val="0"/>
                  </a:srgbClr>
                </a:gs>
                <a:gs pos="100000">
                  <a:srgbClr val="1E46EB"/>
                </a:gs>
              </a:gsLst>
              <a:lin ang="0" scaled="1"/>
            </a:gra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53565" y="507365"/>
            <a:ext cx="1917700" cy="5969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057525" y="3072765"/>
            <a:ext cx="6551930" cy="0"/>
          </a:xfrm>
          <a:prstGeom prst="line">
            <a:avLst/>
          </a:prstGeom>
          <a:noFill/>
          <a:ln w="12700">
            <a:solidFill>
              <a:srgbClr val="1CA97E"/>
            </a:solidFill>
            <a:prstDash val="dash"/>
            <a:headEnd type="none"/>
            <a:tailEnd type="none"/>
          </a:ln>
        </p:spPr>
      </p:sp>
      <p:sp>
        <p:nvSpPr>
          <p:cNvPr id="15" name="Shape 12"/>
          <p:cNvSpPr/>
          <p:nvPr/>
        </p:nvSpPr>
        <p:spPr>
          <a:xfrm>
            <a:off x="2933700" y="3009265"/>
            <a:ext cx="127000" cy="127000"/>
          </a:xfrm>
          <a:prstGeom prst="ellipse">
            <a:avLst/>
          </a:prstGeom>
          <a:solidFill>
            <a:srgbClr val="1CA97E"/>
          </a:solidFill>
          <a:ln/>
        </p:spPr>
      </p:sp>
      <p:sp>
        <p:nvSpPr>
          <p:cNvPr id="16" name="Text 13"/>
          <p:cNvSpPr/>
          <p:nvPr/>
        </p:nvSpPr>
        <p:spPr>
          <a:xfrm>
            <a:off x="2933700" y="3009265"/>
            <a:ext cx="127000" cy="127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477260" y="4363085"/>
            <a:ext cx="6551930" cy="0"/>
          </a:xfrm>
          <a:prstGeom prst="line">
            <a:avLst/>
          </a:prstGeom>
          <a:noFill/>
          <a:ln w="12700">
            <a:solidFill>
              <a:srgbClr val="1CA97E"/>
            </a:solidFill>
            <a:prstDash val="dash"/>
            <a:headEnd type="none"/>
            <a:tailEnd type="none"/>
          </a:ln>
        </p:spPr>
      </p:sp>
      <p:sp>
        <p:nvSpPr>
          <p:cNvPr id="18" name="Shape 15"/>
          <p:cNvSpPr/>
          <p:nvPr/>
        </p:nvSpPr>
        <p:spPr>
          <a:xfrm>
            <a:off x="3353435" y="4299585"/>
            <a:ext cx="127000" cy="127000"/>
          </a:xfrm>
          <a:prstGeom prst="ellipse">
            <a:avLst/>
          </a:prstGeom>
          <a:solidFill>
            <a:srgbClr val="1CA97E"/>
          </a:solidFill>
          <a:ln/>
        </p:spPr>
      </p:sp>
      <p:sp>
        <p:nvSpPr>
          <p:cNvPr id="19" name="Text 16"/>
          <p:cNvSpPr/>
          <p:nvPr/>
        </p:nvSpPr>
        <p:spPr>
          <a:xfrm>
            <a:off x="3353435" y="4299585"/>
            <a:ext cx="127000" cy="127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724275" y="5653405"/>
            <a:ext cx="6551930" cy="0"/>
          </a:xfrm>
          <a:prstGeom prst="line">
            <a:avLst/>
          </a:prstGeom>
          <a:noFill/>
          <a:ln w="12700">
            <a:solidFill>
              <a:srgbClr val="1CA97E"/>
            </a:solidFill>
            <a:prstDash val="dash"/>
            <a:headEnd type="none"/>
            <a:tailEnd type="none"/>
          </a:ln>
        </p:spPr>
      </p:sp>
      <p:sp>
        <p:nvSpPr>
          <p:cNvPr id="21" name="Shape 18"/>
          <p:cNvSpPr/>
          <p:nvPr/>
        </p:nvSpPr>
        <p:spPr>
          <a:xfrm>
            <a:off x="3600450" y="5589905"/>
            <a:ext cx="127000" cy="127000"/>
          </a:xfrm>
          <a:prstGeom prst="ellipse">
            <a:avLst/>
          </a:prstGeom>
          <a:solidFill>
            <a:srgbClr val="1CA97E"/>
          </a:solidFill>
          <a:ln/>
        </p:spPr>
      </p:sp>
      <p:sp>
        <p:nvSpPr>
          <p:cNvPr id="22" name="Text 19"/>
          <p:cNvSpPr/>
          <p:nvPr/>
        </p:nvSpPr>
        <p:spPr>
          <a:xfrm>
            <a:off x="3600450" y="5589905"/>
            <a:ext cx="127000" cy="127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3282950" y="2327275"/>
            <a:ext cx="838835" cy="4994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CA9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160520" y="2378075"/>
            <a:ext cx="6096000" cy="4296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kern="0" spc="300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项目与分工概览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3702685" y="3617595"/>
            <a:ext cx="838835" cy="4994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CA9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580255" y="3668395"/>
            <a:ext cx="6096000" cy="4296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成员个人进展汇报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3949700" y="4907915"/>
            <a:ext cx="838835" cy="4994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CA9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4827270" y="4958715"/>
            <a:ext cx="6096000" cy="4296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项目经理总结与行动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7:02:52-d2slbf61bb2p4onbqkj0.png"/>
          <p:cNvPicPr>
            <a:picLocks noChangeAspect="1"/>
          </p:cNvPicPr>
          <p:nvPr/>
        </p:nvPicPr>
        <p:blipFill>
          <a:blip r:embed="rId3"/>
          <a:srcRect l="13" r="13"/>
          <a:stretch/>
        </p:blipFill>
        <p:spPr>
          <a:xfrm>
            <a:off x="-635" y="0"/>
            <a:ext cx="12207240" cy="6832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18" y="6584950"/>
            <a:ext cx="12191365" cy="152400"/>
          </a:xfrm>
          <a:prstGeom prst="rect">
            <a:avLst/>
          </a:prstGeom>
          <a:solidFill>
            <a:srgbClr val="1CA97E"/>
          </a:solidFill>
          <a:ln/>
        </p:spPr>
      </p:sp>
      <p:sp>
        <p:nvSpPr>
          <p:cNvPr id="4" name="Text 1"/>
          <p:cNvSpPr/>
          <p:nvPr/>
        </p:nvSpPr>
        <p:spPr>
          <a:xfrm>
            <a:off x="318" y="6584950"/>
            <a:ext cx="12191365" cy="152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318" y="6705600"/>
            <a:ext cx="12191365" cy="152400"/>
          </a:xfrm>
          <a:prstGeom prst="rect">
            <a:avLst/>
          </a:prstGeom>
          <a:solidFill>
            <a:srgbClr val="1E46EB"/>
          </a:solidFill>
          <a:ln/>
        </p:spPr>
      </p:sp>
      <p:sp>
        <p:nvSpPr>
          <p:cNvPr id="6" name="Text 3"/>
          <p:cNvSpPr/>
          <p:nvPr/>
        </p:nvSpPr>
        <p:spPr>
          <a:xfrm>
            <a:off x="318" y="6705600"/>
            <a:ext cx="12191365" cy="152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335655" y="3239909"/>
            <a:ext cx="5956796" cy="736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1E46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项目与分工概览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563724" y="1433195"/>
            <a:ext cx="5956796" cy="14815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600" b="1" dirty="0">
                <a:solidFill>
                  <a:srgbClr val="1E46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20340000">
            <a:off x="5207353" y="2025906"/>
            <a:ext cx="2808847" cy="68427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1E46EB">
                    <a:alpha val="0"/>
                  </a:srgbClr>
                </a:gs>
                <a:gs pos="24000">
                  <a:srgbClr val="1E46EB">
                    <a:alpha val="0"/>
                  </a:srgbClr>
                </a:gs>
                <a:gs pos="100000">
                  <a:srgbClr val="1E46EB"/>
                </a:gs>
              </a:gsLst>
              <a:lin ang="5400000" scaled="1"/>
            </a:gradFill>
            <a:prstDash val="solid"/>
          </a:ln>
        </p:spPr>
      </p:sp>
      <p:sp>
        <p:nvSpPr>
          <p:cNvPr id="10" name="Text 7"/>
          <p:cNvSpPr/>
          <p:nvPr/>
        </p:nvSpPr>
        <p:spPr>
          <a:xfrm rot="20340000">
            <a:off x="5207353" y="2025906"/>
            <a:ext cx="2808847" cy="6842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044755" y="2859562"/>
            <a:ext cx="180054" cy="180071"/>
          </a:xfrm>
          <a:prstGeom prst="ellipse">
            <a:avLst/>
          </a:prstGeom>
          <a:solidFill>
            <a:srgbClr val="1E46EB"/>
          </a:solidFill>
          <a:ln/>
        </p:spPr>
      </p:sp>
      <p:sp>
        <p:nvSpPr>
          <p:cNvPr id="12" name="Text 9"/>
          <p:cNvSpPr/>
          <p:nvPr/>
        </p:nvSpPr>
        <p:spPr>
          <a:xfrm>
            <a:off x="6044755" y="2859562"/>
            <a:ext cx="180054" cy="18007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878727" y="2074041"/>
            <a:ext cx="90027" cy="90036"/>
          </a:xfrm>
          <a:prstGeom prst="ellipse">
            <a:avLst/>
          </a:prstGeom>
          <a:solidFill>
            <a:srgbClr val="1E46EB"/>
          </a:solidFill>
          <a:ln/>
        </p:spPr>
      </p:sp>
      <p:sp>
        <p:nvSpPr>
          <p:cNvPr id="14" name="Text 11"/>
          <p:cNvSpPr/>
          <p:nvPr/>
        </p:nvSpPr>
        <p:spPr>
          <a:xfrm>
            <a:off x="7878727" y="2074041"/>
            <a:ext cx="90027" cy="90036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5630" y="487045"/>
            <a:ext cx="11160125" cy="5524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E46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项目名称与迭代周期说明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18" y="6584950"/>
            <a:ext cx="12191365" cy="152400"/>
          </a:xfrm>
          <a:prstGeom prst="rect">
            <a:avLst/>
          </a:prstGeom>
          <a:solidFill>
            <a:srgbClr val="1CA97E"/>
          </a:solidFill>
          <a:ln/>
        </p:spPr>
      </p:sp>
      <p:sp>
        <p:nvSpPr>
          <p:cNvPr id="4" name="Text 2"/>
          <p:cNvSpPr/>
          <p:nvPr/>
        </p:nvSpPr>
        <p:spPr>
          <a:xfrm>
            <a:off x="318" y="6584950"/>
            <a:ext cx="12191365" cy="152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8" y="6705600"/>
            <a:ext cx="12191365" cy="152400"/>
          </a:xfrm>
          <a:prstGeom prst="rect">
            <a:avLst/>
          </a:prstGeom>
          <a:solidFill>
            <a:srgbClr val="1E46EB"/>
          </a:solidFill>
          <a:ln/>
        </p:spPr>
      </p:sp>
      <p:sp>
        <p:nvSpPr>
          <p:cNvPr id="6" name="Text 4"/>
          <p:cNvSpPr/>
          <p:nvPr/>
        </p:nvSpPr>
        <p:spPr>
          <a:xfrm>
            <a:off x="318" y="6705600"/>
            <a:ext cx="12191365" cy="152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65455"/>
            <a:ext cx="437515" cy="647700"/>
          </a:xfrm>
          <a:prstGeom prst="rect">
            <a:avLst/>
          </a:prstGeom>
          <a:solidFill>
            <a:srgbClr val="1E46EB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465455"/>
            <a:ext cx="437515" cy="6477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8315" y="465455"/>
            <a:ext cx="76200" cy="647700"/>
          </a:xfrm>
          <a:prstGeom prst="rect">
            <a:avLst/>
          </a:prstGeom>
          <a:solidFill>
            <a:srgbClr val="1E46EB"/>
          </a:solidFill>
          <a:ln/>
        </p:spPr>
      </p:sp>
      <p:sp>
        <p:nvSpPr>
          <p:cNvPr id="10" name="Text 8"/>
          <p:cNvSpPr/>
          <p:nvPr/>
        </p:nvSpPr>
        <p:spPr>
          <a:xfrm>
            <a:off x="488315" y="465455"/>
            <a:ext cx="76200" cy="6477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1" name="Image 0" descr="https://kimi-img.moonshot.cn/pub/slides/slides_tmpl/image/25-09-04-17:02:56-d2slbg61bb2p4onbqkrg.png"/>
          <p:cNvPicPr>
            <a:picLocks noChangeAspect="1"/>
          </p:cNvPicPr>
          <p:nvPr/>
        </p:nvPicPr>
        <p:blipFill>
          <a:blip r:embed="rId3"/>
          <a:srcRect t="154" b="154"/>
          <a:stretch/>
        </p:blipFill>
        <p:spPr>
          <a:xfrm>
            <a:off x="743585" y="1354455"/>
            <a:ext cx="10554335" cy="2054225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827530" y="2927985"/>
            <a:ext cx="923290" cy="923290"/>
          </a:xfrm>
          <a:prstGeom prst="ellipse">
            <a:avLst/>
          </a:prstGeom>
          <a:solidFill>
            <a:srgbClr val="1CA97E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27530" y="2927985"/>
            <a:ext cx="923290" cy="92329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518785" y="2927985"/>
            <a:ext cx="923290" cy="923290"/>
          </a:xfrm>
          <a:prstGeom prst="ellipse">
            <a:avLst/>
          </a:prstGeom>
          <a:solidFill>
            <a:srgbClr val="1E46EB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18785" y="2927985"/>
            <a:ext cx="923290" cy="92329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9210040" y="2927985"/>
            <a:ext cx="923290" cy="923290"/>
          </a:xfrm>
          <a:prstGeom prst="ellipse">
            <a:avLst/>
          </a:prstGeom>
          <a:solidFill>
            <a:srgbClr val="1CA97E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210040" y="2927985"/>
            <a:ext cx="923290" cy="92329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881505" y="3128645"/>
            <a:ext cx="815340" cy="4296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21360" y="3910330"/>
            <a:ext cx="3134995" cy="2845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迭代周期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21360" y="4283710"/>
            <a:ext cx="3134995" cy="57169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本次迭代周期为第[X]周至第[X+2]周，覆盖两周时间。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572760" y="3128645"/>
            <a:ext cx="815340" cy="4296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412615" y="3910330"/>
            <a:ext cx="3134995" cy="2845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项目代号与版本目标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412615" y="4283710"/>
            <a:ext cx="3134995" cy="85764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项目代号为[项目名称]，本次迭代目标是完成[X]个用户故事，确保系统核心功能模块的初步搭建。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264015" y="3128645"/>
            <a:ext cx="815340" cy="4296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103870" y="3910330"/>
            <a:ext cx="3134995" cy="2845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项目愿景与进度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103870" y="4283710"/>
            <a:ext cx="3134995" cy="114339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项目愿景是打造一个高效、易用的[软件功能]系统。目前整体进度已完成[X]%，本次迭代计划完成[X]%的进度。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5630" y="487045"/>
            <a:ext cx="11160125" cy="5524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E46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四人角色分工与接口约定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18" y="6584950"/>
            <a:ext cx="12191365" cy="152400"/>
          </a:xfrm>
          <a:prstGeom prst="rect">
            <a:avLst/>
          </a:prstGeom>
          <a:solidFill>
            <a:srgbClr val="1CA97E"/>
          </a:solidFill>
          <a:ln/>
        </p:spPr>
      </p:sp>
      <p:sp>
        <p:nvSpPr>
          <p:cNvPr id="4" name="Text 2"/>
          <p:cNvSpPr/>
          <p:nvPr/>
        </p:nvSpPr>
        <p:spPr>
          <a:xfrm>
            <a:off x="318" y="6584950"/>
            <a:ext cx="12191365" cy="152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8" y="6705600"/>
            <a:ext cx="12191365" cy="152400"/>
          </a:xfrm>
          <a:prstGeom prst="rect">
            <a:avLst/>
          </a:prstGeom>
          <a:solidFill>
            <a:srgbClr val="1E46EB"/>
          </a:solidFill>
          <a:ln/>
        </p:spPr>
      </p:sp>
      <p:sp>
        <p:nvSpPr>
          <p:cNvPr id="6" name="Text 4"/>
          <p:cNvSpPr/>
          <p:nvPr/>
        </p:nvSpPr>
        <p:spPr>
          <a:xfrm>
            <a:off x="318" y="6705600"/>
            <a:ext cx="12191365" cy="152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65455"/>
            <a:ext cx="437515" cy="647700"/>
          </a:xfrm>
          <a:prstGeom prst="rect">
            <a:avLst/>
          </a:prstGeom>
          <a:solidFill>
            <a:srgbClr val="1E46EB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465455"/>
            <a:ext cx="437515" cy="6477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8315" y="465455"/>
            <a:ext cx="76200" cy="647700"/>
          </a:xfrm>
          <a:prstGeom prst="rect">
            <a:avLst/>
          </a:prstGeom>
          <a:solidFill>
            <a:srgbClr val="1E46EB"/>
          </a:solidFill>
          <a:ln/>
        </p:spPr>
      </p:sp>
      <p:sp>
        <p:nvSpPr>
          <p:cNvPr id="10" name="Text 8"/>
          <p:cNvSpPr/>
          <p:nvPr/>
        </p:nvSpPr>
        <p:spPr>
          <a:xfrm>
            <a:off x="488315" y="465455"/>
            <a:ext cx="76200" cy="6477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1" name="Image 0" descr="https://kimi-img.moonshot.cn/pub/slides/slides_tmpl/image/25-09-04-17:02:57-d2slbge1bb2p4onbqktg.png"/>
          <p:cNvPicPr>
            <a:picLocks noChangeAspect="1"/>
          </p:cNvPicPr>
          <p:nvPr/>
        </p:nvPicPr>
        <p:blipFill>
          <a:blip r:embed="rId3"/>
          <a:srcRect l="33" r="33"/>
          <a:stretch/>
        </p:blipFill>
        <p:spPr>
          <a:xfrm>
            <a:off x="744220" y="1390015"/>
            <a:ext cx="3868420" cy="2327275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55015" y="3847465"/>
            <a:ext cx="3869581" cy="2474595"/>
          </a:xfrm>
          <a:prstGeom prst="rect">
            <a:avLst/>
          </a:prstGeom>
          <a:solidFill>
            <a:srgbClr val="1E46EB"/>
          </a:solidFill>
          <a:ln/>
        </p:spPr>
      </p:sp>
      <p:sp>
        <p:nvSpPr>
          <p:cNvPr id="13" name="Text 10"/>
          <p:cNvSpPr/>
          <p:nvPr/>
        </p:nvSpPr>
        <p:spPr>
          <a:xfrm>
            <a:off x="755015" y="3847465"/>
            <a:ext cx="3869581" cy="24745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901565" y="1478280"/>
            <a:ext cx="200067" cy="260350"/>
          </a:xfrm>
          <a:prstGeom prst="chevron">
            <a:avLst/>
          </a:prstGeom>
          <a:solidFill>
            <a:srgbClr val="1CA97E"/>
          </a:solidFill>
          <a:ln/>
        </p:spPr>
      </p:sp>
      <p:sp>
        <p:nvSpPr>
          <p:cNvPr id="15" name="Text 12"/>
          <p:cNvSpPr/>
          <p:nvPr/>
        </p:nvSpPr>
        <p:spPr>
          <a:xfrm>
            <a:off x="4901565" y="1478280"/>
            <a:ext cx="200067" cy="2603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053923" y="1478280"/>
            <a:ext cx="200067" cy="260350"/>
          </a:xfrm>
          <a:prstGeom prst="chevron">
            <a:avLst/>
          </a:prstGeom>
          <a:solidFill>
            <a:srgbClr val="1CA97E"/>
          </a:solidFill>
          <a:ln/>
        </p:spPr>
      </p:sp>
      <p:sp>
        <p:nvSpPr>
          <p:cNvPr id="17" name="Text 14"/>
          <p:cNvSpPr/>
          <p:nvPr/>
        </p:nvSpPr>
        <p:spPr>
          <a:xfrm>
            <a:off x="5053923" y="1478280"/>
            <a:ext cx="200067" cy="2603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901565" y="3157855"/>
            <a:ext cx="200067" cy="260350"/>
          </a:xfrm>
          <a:prstGeom prst="chevron">
            <a:avLst/>
          </a:prstGeom>
          <a:solidFill>
            <a:srgbClr val="1CA97E"/>
          </a:solidFill>
          <a:ln/>
        </p:spPr>
      </p:sp>
      <p:sp>
        <p:nvSpPr>
          <p:cNvPr id="19" name="Text 16"/>
          <p:cNvSpPr/>
          <p:nvPr/>
        </p:nvSpPr>
        <p:spPr>
          <a:xfrm>
            <a:off x="4901565" y="3157855"/>
            <a:ext cx="200067" cy="2603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053923" y="3157855"/>
            <a:ext cx="200067" cy="260350"/>
          </a:xfrm>
          <a:prstGeom prst="chevron">
            <a:avLst/>
          </a:prstGeom>
          <a:solidFill>
            <a:srgbClr val="1CA97E"/>
          </a:solidFill>
          <a:ln/>
        </p:spPr>
      </p:sp>
      <p:sp>
        <p:nvSpPr>
          <p:cNvPr id="21" name="Text 18"/>
          <p:cNvSpPr/>
          <p:nvPr/>
        </p:nvSpPr>
        <p:spPr>
          <a:xfrm>
            <a:off x="5053923" y="3157855"/>
            <a:ext cx="200067" cy="2603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4901565" y="4837430"/>
            <a:ext cx="200067" cy="260350"/>
          </a:xfrm>
          <a:prstGeom prst="chevron">
            <a:avLst/>
          </a:prstGeom>
          <a:solidFill>
            <a:srgbClr val="1CA97E"/>
          </a:solidFill>
          <a:ln/>
        </p:spPr>
      </p:sp>
      <p:sp>
        <p:nvSpPr>
          <p:cNvPr id="23" name="Text 20"/>
          <p:cNvSpPr/>
          <p:nvPr/>
        </p:nvSpPr>
        <p:spPr>
          <a:xfrm>
            <a:off x="4901565" y="4837430"/>
            <a:ext cx="200067" cy="2603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053923" y="4837430"/>
            <a:ext cx="200067" cy="260350"/>
          </a:xfrm>
          <a:prstGeom prst="chevron">
            <a:avLst/>
          </a:prstGeom>
          <a:solidFill>
            <a:srgbClr val="1CA97E"/>
          </a:solidFill>
          <a:ln/>
        </p:spPr>
      </p:sp>
      <p:sp>
        <p:nvSpPr>
          <p:cNvPr id="25" name="Text 22"/>
          <p:cNvSpPr/>
          <p:nvPr/>
        </p:nvSpPr>
        <p:spPr>
          <a:xfrm>
            <a:off x="5053923" y="4837430"/>
            <a:ext cx="200067" cy="2603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342890" y="1403985"/>
            <a:ext cx="6070600" cy="2845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角色分工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342890" y="1777365"/>
            <a:ext cx="6070600" cy="3487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约定各角色分工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945583" y="4064635"/>
            <a:ext cx="3576818" cy="3693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例会</a:t>
            </a:r>
            <a:r>
              <a:rPr lang="en-US" sz="1800" b="1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与周报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945583" y="4438015"/>
            <a:ext cx="3576818" cy="62882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zh-CN" altLang="en-US" sz="1400" i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约定每周例会、每周向项目经理汇报时间</a:t>
            </a:r>
            <a:r>
              <a:rPr lang="en-US" sz="1400" i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r>
              <a:rPr lang="zh-CN" altLang="en-US" sz="1400" i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项目经理负责整合信息，生成周报上交。</a:t>
            </a:r>
            <a:endParaRPr lang="en-US" sz="1600" i="1" dirty="0"/>
          </a:p>
        </p:txBody>
      </p:sp>
      <p:sp>
        <p:nvSpPr>
          <p:cNvPr id="30" name="Text 27"/>
          <p:cNvSpPr/>
          <p:nvPr/>
        </p:nvSpPr>
        <p:spPr>
          <a:xfrm>
            <a:off x="5342890" y="3083560"/>
            <a:ext cx="6070600" cy="2845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协作工具链接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342890" y="3456940"/>
            <a:ext cx="6070600" cy="3487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altLang="zh-CN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GIT</a:t>
            </a:r>
            <a:r>
              <a:rPr lang="zh-CN" alt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链接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342890" y="4763135"/>
            <a:ext cx="6070600" cy="2845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接口约定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342890" y="5136515"/>
            <a:ext cx="6070600" cy="57169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各成员需按照接口文档进行开发，确保前后端接口一致，测试人员提前介入验证接口可用性。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7:02:52-d2slbf61bb2p4onbqkj0.png"/>
          <p:cNvPicPr>
            <a:picLocks noChangeAspect="1"/>
          </p:cNvPicPr>
          <p:nvPr/>
        </p:nvPicPr>
        <p:blipFill>
          <a:blip r:embed="rId3"/>
          <a:srcRect l="13" r="13"/>
          <a:stretch/>
        </p:blipFill>
        <p:spPr>
          <a:xfrm>
            <a:off x="-635" y="0"/>
            <a:ext cx="12207240" cy="6832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18" y="6584950"/>
            <a:ext cx="12191365" cy="152400"/>
          </a:xfrm>
          <a:prstGeom prst="rect">
            <a:avLst/>
          </a:prstGeom>
          <a:solidFill>
            <a:srgbClr val="1CA97E"/>
          </a:solidFill>
          <a:ln/>
        </p:spPr>
      </p:sp>
      <p:sp>
        <p:nvSpPr>
          <p:cNvPr id="4" name="Text 1"/>
          <p:cNvSpPr/>
          <p:nvPr/>
        </p:nvSpPr>
        <p:spPr>
          <a:xfrm>
            <a:off x="318" y="6584950"/>
            <a:ext cx="12191365" cy="152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318" y="6705600"/>
            <a:ext cx="12191365" cy="152400"/>
          </a:xfrm>
          <a:prstGeom prst="rect">
            <a:avLst/>
          </a:prstGeom>
          <a:solidFill>
            <a:srgbClr val="1E46EB"/>
          </a:solidFill>
          <a:ln/>
        </p:spPr>
      </p:sp>
      <p:sp>
        <p:nvSpPr>
          <p:cNvPr id="6" name="Text 3"/>
          <p:cNvSpPr/>
          <p:nvPr/>
        </p:nvSpPr>
        <p:spPr>
          <a:xfrm>
            <a:off x="318" y="6705600"/>
            <a:ext cx="12191365" cy="152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335655" y="3239909"/>
            <a:ext cx="5956796" cy="736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1E46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成员个人进展汇报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563724" y="1433195"/>
            <a:ext cx="5956796" cy="14815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600" b="1" dirty="0">
                <a:solidFill>
                  <a:srgbClr val="1E46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20340000">
            <a:off x="5207353" y="2025906"/>
            <a:ext cx="2808847" cy="68427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1E46EB">
                    <a:alpha val="0"/>
                  </a:srgbClr>
                </a:gs>
                <a:gs pos="24000">
                  <a:srgbClr val="1E46EB">
                    <a:alpha val="0"/>
                  </a:srgbClr>
                </a:gs>
                <a:gs pos="100000">
                  <a:srgbClr val="1E46EB"/>
                </a:gs>
              </a:gsLst>
              <a:lin ang="5400000" scaled="1"/>
            </a:gradFill>
            <a:prstDash val="solid"/>
          </a:ln>
        </p:spPr>
      </p:sp>
      <p:sp>
        <p:nvSpPr>
          <p:cNvPr id="10" name="Text 7"/>
          <p:cNvSpPr/>
          <p:nvPr/>
        </p:nvSpPr>
        <p:spPr>
          <a:xfrm rot="20340000">
            <a:off x="5207353" y="2025906"/>
            <a:ext cx="2808847" cy="6842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044755" y="2859562"/>
            <a:ext cx="180054" cy="180071"/>
          </a:xfrm>
          <a:prstGeom prst="ellipse">
            <a:avLst/>
          </a:prstGeom>
          <a:solidFill>
            <a:srgbClr val="1E46EB"/>
          </a:solidFill>
          <a:ln/>
        </p:spPr>
      </p:sp>
      <p:sp>
        <p:nvSpPr>
          <p:cNvPr id="12" name="Text 9"/>
          <p:cNvSpPr/>
          <p:nvPr/>
        </p:nvSpPr>
        <p:spPr>
          <a:xfrm>
            <a:off x="6044755" y="2859562"/>
            <a:ext cx="180054" cy="18007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878727" y="2074041"/>
            <a:ext cx="90027" cy="90036"/>
          </a:xfrm>
          <a:prstGeom prst="ellipse">
            <a:avLst/>
          </a:prstGeom>
          <a:solidFill>
            <a:srgbClr val="1E46EB"/>
          </a:solidFill>
          <a:ln/>
        </p:spPr>
      </p:sp>
      <p:sp>
        <p:nvSpPr>
          <p:cNvPr id="14" name="Text 11"/>
          <p:cNvSpPr/>
          <p:nvPr/>
        </p:nvSpPr>
        <p:spPr>
          <a:xfrm>
            <a:off x="7878727" y="2074041"/>
            <a:ext cx="90027" cy="90036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5630" y="487045"/>
            <a:ext cx="11160125" cy="5524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E46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成员A已完成任务与交付物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18" y="6584950"/>
            <a:ext cx="12191365" cy="152400"/>
          </a:xfrm>
          <a:prstGeom prst="rect">
            <a:avLst/>
          </a:prstGeom>
          <a:solidFill>
            <a:srgbClr val="1CA97E"/>
          </a:solidFill>
          <a:ln/>
        </p:spPr>
      </p:sp>
      <p:sp>
        <p:nvSpPr>
          <p:cNvPr id="4" name="Text 2"/>
          <p:cNvSpPr/>
          <p:nvPr/>
        </p:nvSpPr>
        <p:spPr>
          <a:xfrm>
            <a:off x="318" y="6584950"/>
            <a:ext cx="12191365" cy="152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8" y="6705600"/>
            <a:ext cx="12191365" cy="152400"/>
          </a:xfrm>
          <a:prstGeom prst="rect">
            <a:avLst/>
          </a:prstGeom>
          <a:solidFill>
            <a:srgbClr val="1E46EB"/>
          </a:solidFill>
          <a:ln/>
        </p:spPr>
      </p:sp>
      <p:sp>
        <p:nvSpPr>
          <p:cNvPr id="6" name="Text 4"/>
          <p:cNvSpPr/>
          <p:nvPr/>
        </p:nvSpPr>
        <p:spPr>
          <a:xfrm>
            <a:off x="318" y="6705600"/>
            <a:ext cx="12191365" cy="152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65455"/>
            <a:ext cx="437515" cy="647700"/>
          </a:xfrm>
          <a:prstGeom prst="rect">
            <a:avLst/>
          </a:prstGeom>
          <a:solidFill>
            <a:srgbClr val="1E46EB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465455"/>
            <a:ext cx="437515" cy="6477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8315" y="465455"/>
            <a:ext cx="76200" cy="647700"/>
          </a:xfrm>
          <a:prstGeom prst="rect">
            <a:avLst/>
          </a:prstGeom>
          <a:solidFill>
            <a:srgbClr val="1E46EB"/>
          </a:solidFill>
          <a:ln/>
        </p:spPr>
      </p:sp>
      <p:sp>
        <p:nvSpPr>
          <p:cNvPr id="10" name="Text 8"/>
          <p:cNvSpPr/>
          <p:nvPr/>
        </p:nvSpPr>
        <p:spPr>
          <a:xfrm>
            <a:off x="488315" y="465455"/>
            <a:ext cx="76200" cy="6477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1" name="Image 0" descr="https://kimi-img.moonshot.cn/pub/slides/slides_tmpl/image/25-09-04-17:02:53-d2slbfe1bb2p4onbqkm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" y="1667510"/>
            <a:ext cx="12192000" cy="2362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94728" y="4371975"/>
            <a:ext cx="10107751" cy="4296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已完成任务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94728" y="4949825"/>
            <a:ext cx="10202545" cy="7131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成员A在过去两周内完成了[X]个需求，涉及[X]个功能点，代码规模达到[X]行，已合并至主干分支，版本号为[X]。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7:02:53-d2slbfe1bb2p4onbqko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" y="1551305"/>
            <a:ext cx="12190730" cy="13049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5630" y="487045"/>
            <a:ext cx="11160125" cy="5524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E46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成员A进行中任务与阶段输出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-2222" y="6616700"/>
            <a:ext cx="12191365" cy="152400"/>
          </a:xfrm>
          <a:prstGeom prst="rect">
            <a:avLst/>
          </a:prstGeom>
          <a:solidFill>
            <a:srgbClr val="1CA97E"/>
          </a:solidFill>
          <a:ln/>
        </p:spPr>
      </p:sp>
      <p:sp>
        <p:nvSpPr>
          <p:cNvPr id="5" name="Text 2"/>
          <p:cNvSpPr/>
          <p:nvPr/>
        </p:nvSpPr>
        <p:spPr>
          <a:xfrm>
            <a:off x="-2222" y="6616700"/>
            <a:ext cx="12191365" cy="152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-2222" y="6737350"/>
            <a:ext cx="12191365" cy="152400"/>
          </a:xfrm>
          <a:prstGeom prst="rect">
            <a:avLst/>
          </a:prstGeom>
          <a:solidFill>
            <a:srgbClr val="1E46EB"/>
          </a:solidFill>
          <a:ln/>
        </p:spPr>
      </p:sp>
      <p:sp>
        <p:nvSpPr>
          <p:cNvPr id="7" name="Text 4"/>
          <p:cNvSpPr/>
          <p:nvPr/>
        </p:nvSpPr>
        <p:spPr>
          <a:xfrm>
            <a:off x="-2222" y="6737350"/>
            <a:ext cx="12191365" cy="152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0" y="465455"/>
            <a:ext cx="437515" cy="647700"/>
          </a:xfrm>
          <a:prstGeom prst="rect">
            <a:avLst/>
          </a:prstGeom>
          <a:solidFill>
            <a:srgbClr val="1E46EB"/>
          </a:solidFill>
          <a:ln/>
        </p:spPr>
      </p:sp>
      <p:sp>
        <p:nvSpPr>
          <p:cNvPr id="9" name="Text 6"/>
          <p:cNvSpPr/>
          <p:nvPr/>
        </p:nvSpPr>
        <p:spPr>
          <a:xfrm>
            <a:off x="0" y="465455"/>
            <a:ext cx="437515" cy="6477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88315" y="465455"/>
            <a:ext cx="76200" cy="647700"/>
          </a:xfrm>
          <a:prstGeom prst="rect">
            <a:avLst/>
          </a:prstGeom>
          <a:solidFill>
            <a:srgbClr val="1E46EB"/>
          </a:solidFill>
          <a:ln/>
        </p:spPr>
      </p:sp>
      <p:sp>
        <p:nvSpPr>
          <p:cNvPr id="11" name="Text 8"/>
          <p:cNvSpPr/>
          <p:nvPr/>
        </p:nvSpPr>
        <p:spPr>
          <a:xfrm>
            <a:off x="488315" y="465455"/>
            <a:ext cx="76200" cy="6477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011555" y="3077210"/>
            <a:ext cx="4650740" cy="3089910"/>
          </a:xfrm>
          <a:prstGeom prst="foldedCorner">
            <a:avLst/>
          </a:prstGeom>
          <a:solidFill>
            <a:srgbClr val="FFFFFF"/>
          </a:solidFill>
          <a:ln w="19050">
            <a:solidFill>
              <a:srgbClr val="1E46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11555" y="3077210"/>
            <a:ext cx="4650740" cy="308991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586855" y="3077210"/>
            <a:ext cx="4650740" cy="3089910"/>
          </a:xfrm>
          <a:prstGeom prst="foldedCorner">
            <a:avLst/>
          </a:prstGeom>
          <a:solidFill>
            <a:srgbClr val="FFFFFF"/>
          </a:solidFill>
          <a:ln w="19050">
            <a:solidFill>
              <a:srgbClr val="1E46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86855" y="3077210"/>
            <a:ext cx="4650740" cy="308991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189355" y="3273425"/>
            <a:ext cx="4222115" cy="3067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进行中任务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189355" y="3676650"/>
            <a:ext cx="4224020" cy="73144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成员A当前正在开发[X]功能，已完成[X]%，预计剩余[X]小时完成。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764655" y="3273425"/>
            <a:ext cx="4222115" cy="3067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阶段输出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764655" y="3676650"/>
            <a:ext cx="4224020" cy="73144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已实现[X]功能模块，正在等待后端接口对接，需后端成员配合提供数据结构。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5630" y="487045"/>
            <a:ext cx="11160125" cy="5524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E46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成员A后续计划与风险自评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18" y="6584950"/>
            <a:ext cx="12191365" cy="152400"/>
          </a:xfrm>
          <a:prstGeom prst="rect">
            <a:avLst/>
          </a:prstGeom>
          <a:solidFill>
            <a:srgbClr val="1CA97E"/>
          </a:solidFill>
          <a:ln/>
        </p:spPr>
      </p:sp>
      <p:sp>
        <p:nvSpPr>
          <p:cNvPr id="4" name="Text 2"/>
          <p:cNvSpPr/>
          <p:nvPr/>
        </p:nvSpPr>
        <p:spPr>
          <a:xfrm>
            <a:off x="318" y="6584950"/>
            <a:ext cx="12191365" cy="152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8" y="6705600"/>
            <a:ext cx="12191365" cy="152400"/>
          </a:xfrm>
          <a:prstGeom prst="rect">
            <a:avLst/>
          </a:prstGeom>
          <a:solidFill>
            <a:srgbClr val="1E46EB"/>
          </a:solidFill>
          <a:ln/>
        </p:spPr>
      </p:sp>
      <p:sp>
        <p:nvSpPr>
          <p:cNvPr id="6" name="Text 4"/>
          <p:cNvSpPr/>
          <p:nvPr/>
        </p:nvSpPr>
        <p:spPr>
          <a:xfrm>
            <a:off x="318" y="6705600"/>
            <a:ext cx="12191365" cy="152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65455"/>
            <a:ext cx="437515" cy="647700"/>
          </a:xfrm>
          <a:prstGeom prst="rect">
            <a:avLst/>
          </a:prstGeom>
          <a:solidFill>
            <a:srgbClr val="1E46EB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465455"/>
            <a:ext cx="437515" cy="6477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8315" y="465455"/>
            <a:ext cx="76200" cy="647700"/>
          </a:xfrm>
          <a:prstGeom prst="rect">
            <a:avLst/>
          </a:prstGeom>
          <a:solidFill>
            <a:srgbClr val="1E46EB"/>
          </a:solidFill>
          <a:ln/>
        </p:spPr>
      </p:sp>
      <p:sp>
        <p:nvSpPr>
          <p:cNvPr id="10" name="Text 8"/>
          <p:cNvSpPr/>
          <p:nvPr/>
        </p:nvSpPr>
        <p:spPr>
          <a:xfrm>
            <a:off x="488315" y="465455"/>
            <a:ext cx="76200" cy="6477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07440" y="1808480"/>
            <a:ext cx="171450" cy="4419600"/>
          </a:xfrm>
          <a:prstGeom prst="rect">
            <a:avLst/>
          </a:prstGeom>
          <a:solidFill>
            <a:srgbClr val="1E46EB"/>
          </a:solidFill>
          <a:ln/>
        </p:spPr>
      </p:sp>
      <p:sp>
        <p:nvSpPr>
          <p:cNvPr id="12" name="Text 10"/>
          <p:cNvSpPr/>
          <p:nvPr/>
        </p:nvSpPr>
        <p:spPr>
          <a:xfrm>
            <a:off x="1107440" y="1808480"/>
            <a:ext cx="171450" cy="44196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329690" y="1808480"/>
            <a:ext cx="2990850" cy="4419600"/>
          </a:xfrm>
          <a:prstGeom prst="snip1Rect">
            <a:avLst>
              <a:gd name="adj" fmla="val 11571"/>
            </a:avLst>
          </a:prstGeom>
          <a:solidFill>
            <a:srgbClr val="FFFFFF"/>
          </a:solidFill>
          <a:ln w="19050">
            <a:solidFill>
              <a:srgbClr val="1E46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29690" y="1808480"/>
            <a:ext cx="2990850" cy="44196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796790" y="1808480"/>
            <a:ext cx="171450" cy="4419600"/>
          </a:xfrm>
          <a:prstGeom prst="rect">
            <a:avLst/>
          </a:prstGeom>
          <a:solidFill>
            <a:srgbClr val="1CA97E"/>
          </a:solidFill>
          <a:ln/>
        </p:spPr>
      </p:sp>
      <p:sp>
        <p:nvSpPr>
          <p:cNvPr id="16" name="Text 14"/>
          <p:cNvSpPr/>
          <p:nvPr/>
        </p:nvSpPr>
        <p:spPr>
          <a:xfrm>
            <a:off x="4796790" y="1808480"/>
            <a:ext cx="171450" cy="44196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19040" y="1808480"/>
            <a:ext cx="2990850" cy="4419600"/>
          </a:xfrm>
          <a:prstGeom prst="snip1Rect">
            <a:avLst>
              <a:gd name="adj" fmla="val 11571"/>
            </a:avLst>
          </a:prstGeom>
          <a:solidFill>
            <a:srgbClr val="FFFFFF"/>
          </a:solidFill>
          <a:ln w="19050">
            <a:solidFill>
              <a:srgbClr val="1CA97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19040" y="1808480"/>
            <a:ext cx="2990850" cy="44196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486140" y="1808480"/>
            <a:ext cx="171450" cy="4419600"/>
          </a:xfrm>
          <a:prstGeom prst="rect">
            <a:avLst/>
          </a:prstGeom>
          <a:solidFill>
            <a:srgbClr val="1E46EB"/>
          </a:solidFill>
          <a:ln/>
        </p:spPr>
      </p:sp>
      <p:sp>
        <p:nvSpPr>
          <p:cNvPr id="20" name="Text 18"/>
          <p:cNvSpPr/>
          <p:nvPr/>
        </p:nvSpPr>
        <p:spPr>
          <a:xfrm>
            <a:off x="8486140" y="1808480"/>
            <a:ext cx="171450" cy="44196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708390" y="1808480"/>
            <a:ext cx="2990850" cy="4419600"/>
          </a:xfrm>
          <a:prstGeom prst="snip1Rect">
            <a:avLst>
              <a:gd name="adj" fmla="val 11571"/>
            </a:avLst>
          </a:prstGeom>
          <a:solidFill>
            <a:srgbClr val="FFFFFF"/>
          </a:solidFill>
          <a:ln w="19050">
            <a:solidFill>
              <a:srgbClr val="1E46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08390" y="1808480"/>
            <a:ext cx="2990850" cy="44196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24635" y="2223135"/>
            <a:ext cx="2631440" cy="3067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后续计划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524635" y="3034665"/>
            <a:ext cx="2631440" cy="95091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计划在下一次迭代中启动[X]功能开发，预计交付时间为[X]周。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213985" y="2223135"/>
            <a:ext cx="2631440" cy="3067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风险自评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213985" y="3034665"/>
            <a:ext cx="2631440" cy="95091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可能面临的技术风险包括[X]，已计划通过[X]方式缓解。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903335" y="2223135"/>
            <a:ext cx="2631440" cy="3067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外部依赖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903335" y="3034665"/>
            <a:ext cx="2631440" cy="38536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</a:rPr>
              <a:t>有的话写。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7:02:52-d2slbf61bb2p4onbqkj0.png"/>
          <p:cNvPicPr>
            <a:picLocks noChangeAspect="1"/>
          </p:cNvPicPr>
          <p:nvPr/>
        </p:nvPicPr>
        <p:blipFill>
          <a:blip r:embed="rId3"/>
          <a:srcRect l="13" r="13"/>
          <a:stretch/>
        </p:blipFill>
        <p:spPr>
          <a:xfrm>
            <a:off x="-635" y="0"/>
            <a:ext cx="12207240" cy="6832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18" y="6584950"/>
            <a:ext cx="12191365" cy="152400"/>
          </a:xfrm>
          <a:prstGeom prst="rect">
            <a:avLst/>
          </a:prstGeom>
          <a:solidFill>
            <a:srgbClr val="1CA97E"/>
          </a:solidFill>
          <a:ln/>
        </p:spPr>
      </p:sp>
      <p:sp>
        <p:nvSpPr>
          <p:cNvPr id="4" name="Text 1"/>
          <p:cNvSpPr/>
          <p:nvPr/>
        </p:nvSpPr>
        <p:spPr>
          <a:xfrm>
            <a:off x="318" y="6584950"/>
            <a:ext cx="12191365" cy="152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318" y="6705600"/>
            <a:ext cx="12191365" cy="152400"/>
          </a:xfrm>
          <a:prstGeom prst="rect">
            <a:avLst/>
          </a:prstGeom>
          <a:solidFill>
            <a:srgbClr val="1E46EB"/>
          </a:solidFill>
          <a:ln/>
        </p:spPr>
      </p:sp>
      <p:sp>
        <p:nvSpPr>
          <p:cNvPr id="6" name="Text 3"/>
          <p:cNvSpPr/>
          <p:nvPr/>
        </p:nvSpPr>
        <p:spPr>
          <a:xfrm>
            <a:off x="318" y="6705600"/>
            <a:ext cx="12191365" cy="152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335655" y="3239909"/>
            <a:ext cx="5956796" cy="736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1E46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项目经理总结与行动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563724" y="1433195"/>
            <a:ext cx="5956796" cy="14815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600" b="1" dirty="0">
                <a:solidFill>
                  <a:srgbClr val="1E46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20340000">
            <a:off x="5207353" y="2025906"/>
            <a:ext cx="2808847" cy="68427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1E46EB">
                    <a:alpha val="0"/>
                  </a:srgbClr>
                </a:gs>
                <a:gs pos="24000">
                  <a:srgbClr val="1E46EB">
                    <a:alpha val="0"/>
                  </a:srgbClr>
                </a:gs>
                <a:gs pos="100000">
                  <a:srgbClr val="1E46EB"/>
                </a:gs>
              </a:gsLst>
              <a:lin ang="5400000" scaled="1"/>
            </a:gradFill>
            <a:prstDash val="solid"/>
          </a:ln>
        </p:spPr>
      </p:sp>
      <p:sp>
        <p:nvSpPr>
          <p:cNvPr id="10" name="Text 7"/>
          <p:cNvSpPr/>
          <p:nvPr/>
        </p:nvSpPr>
        <p:spPr>
          <a:xfrm rot="20340000">
            <a:off x="5207353" y="2025906"/>
            <a:ext cx="2808847" cy="6842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044755" y="2859562"/>
            <a:ext cx="180054" cy="180071"/>
          </a:xfrm>
          <a:prstGeom prst="ellipse">
            <a:avLst/>
          </a:prstGeom>
          <a:solidFill>
            <a:srgbClr val="1E46EB"/>
          </a:solidFill>
          <a:ln/>
        </p:spPr>
      </p:sp>
      <p:sp>
        <p:nvSpPr>
          <p:cNvPr id="12" name="Text 9"/>
          <p:cNvSpPr/>
          <p:nvPr/>
        </p:nvSpPr>
        <p:spPr>
          <a:xfrm>
            <a:off x="6044755" y="2859562"/>
            <a:ext cx="180054" cy="18007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878727" y="2074041"/>
            <a:ext cx="90027" cy="90036"/>
          </a:xfrm>
          <a:prstGeom prst="ellipse">
            <a:avLst/>
          </a:prstGeom>
          <a:solidFill>
            <a:srgbClr val="1E46EB"/>
          </a:solidFill>
          <a:ln/>
        </p:spPr>
      </p:sp>
      <p:sp>
        <p:nvSpPr>
          <p:cNvPr id="14" name="Text 11"/>
          <p:cNvSpPr/>
          <p:nvPr/>
        </p:nvSpPr>
        <p:spPr>
          <a:xfrm>
            <a:off x="7878727" y="2074041"/>
            <a:ext cx="90027" cy="90036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00000">
            <a:off x="325120" y="1469390"/>
            <a:ext cx="1123315" cy="1123315"/>
          </a:xfrm>
          <a:custGeom>
            <a:avLst/>
            <a:gdLst/>
            <a:ahLst/>
            <a:cxnLst/>
            <a:rect l="l" t="t" r="r" b="b"/>
            <a:pathLst>
              <a:path w="1123315" h="1123315">
                <a:moveTo>
                  <a:pt x="411555" y="1103717"/>
                </a:moveTo>
                <a:cubicBezTo>
                  <a:pt x="411555" y="1103717"/>
                  <a:pt x="411555" y="1103717"/>
                  <a:pt x="711759" y="1103717"/>
                </a:cubicBezTo>
                <a:cubicBezTo>
                  <a:pt x="664474" y="1116783"/>
                  <a:pt x="613890" y="1123315"/>
                  <a:pt x="561107" y="1123315"/>
                </a:cubicBezTo>
                <a:cubicBezTo>
                  <a:pt x="509424" y="1123315"/>
                  <a:pt x="458840" y="1116783"/>
                  <a:pt x="411555" y="1103717"/>
                </a:cubicBezTo>
                <a:close/>
                <a:moveTo>
                  <a:pt x="279715" y="1047596"/>
                </a:moveTo>
                <a:lnTo>
                  <a:pt x="842709" y="1047596"/>
                </a:lnTo>
                <a:cubicBezTo>
                  <a:pt x="819662" y="1060625"/>
                  <a:pt x="796615" y="1072567"/>
                  <a:pt x="771374" y="1082338"/>
                </a:cubicBezTo>
                <a:cubicBezTo>
                  <a:pt x="771374" y="1082338"/>
                  <a:pt x="771374" y="1082338"/>
                  <a:pt x="349952" y="1082338"/>
                </a:cubicBezTo>
                <a:cubicBezTo>
                  <a:pt x="325808" y="1072567"/>
                  <a:pt x="301664" y="1060625"/>
                  <a:pt x="279715" y="1047596"/>
                </a:cubicBezTo>
                <a:close/>
                <a:moveTo>
                  <a:pt x="200433" y="992366"/>
                </a:moveTo>
                <a:lnTo>
                  <a:pt x="921991" y="992366"/>
                </a:lnTo>
                <a:cubicBezTo>
                  <a:pt x="906615" y="1004378"/>
                  <a:pt x="891240" y="1015297"/>
                  <a:pt x="875864" y="1026217"/>
                </a:cubicBezTo>
                <a:cubicBezTo>
                  <a:pt x="875864" y="1026217"/>
                  <a:pt x="875864" y="1026217"/>
                  <a:pt x="246560" y="1026217"/>
                </a:cubicBezTo>
                <a:cubicBezTo>
                  <a:pt x="230086" y="1015297"/>
                  <a:pt x="214710" y="1004378"/>
                  <a:pt x="200433" y="992366"/>
                </a:cubicBezTo>
                <a:close/>
                <a:moveTo>
                  <a:pt x="143421" y="936244"/>
                </a:moveTo>
                <a:lnTo>
                  <a:pt x="979003" y="936244"/>
                </a:lnTo>
                <a:cubicBezTo>
                  <a:pt x="968023" y="948493"/>
                  <a:pt x="957043" y="960742"/>
                  <a:pt x="944965" y="971877"/>
                </a:cubicBezTo>
                <a:cubicBezTo>
                  <a:pt x="944965" y="971877"/>
                  <a:pt x="944965" y="971877"/>
                  <a:pt x="177459" y="971877"/>
                </a:cubicBezTo>
                <a:cubicBezTo>
                  <a:pt x="165381" y="960742"/>
                  <a:pt x="153303" y="948493"/>
                  <a:pt x="143421" y="936244"/>
                </a:cubicBezTo>
                <a:close/>
                <a:moveTo>
                  <a:pt x="99771" y="881905"/>
                </a:moveTo>
                <a:lnTo>
                  <a:pt x="1023543" y="881905"/>
                </a:lnTo>
                <a:cubicBezTo>
                  <a:pt x="1014756" y="893916"/>
                  <a:pt x="1007067" y="904836"/>
                  <a:pt x="997181" y="915756"/>
                </a:cubicBezTo>
                <a:cubicBezTo>
                  <a:pt x="997181" y="915756"/>
                  <a:pt x="997181" y="915756"/>
                  <a:pt x="125034" y="915756"/>
                </a:cubicBezTo>
                <a:cubicBezTo>
                  <a:pt x="116247" y="904836"/>
                  <a:pt x="107459" y="893916"/>
                  <a:pt x="99771" y="881905"/>
                </a:cubicBezTo>
                <a:close/>
                <a:moveTo>
                  <a:pt x="65920" y="825784"/>
                </a:moveTo>
                <a:lnTo>
                  <a:pt x="1057394" y="825784"/>
                </a:lnTo>
                <a:cubicBezTo>
                  <a:pt x="1050806" y="837726"/>
                  <a:pt x="1044219" y="849669"/>
                  <a:pt x="1036533" y="860526"/>
                </a:cubicBezTo>
                <a:cubicBezTo>
                  <a:pt x="1036533" y="860526"/>
                  <a:pt x="1036533" y="860526"/>
                  <a:pt x="85683" y="860526"/>
                </a:cubicBezTo>
                <a:cubicBezTo>
                  <a:pt x="79095" y="849669"/>
                  <a:pt x="72507" y="837726"/>
                  <a:pt x="65920" y="825784"/>
                </a:cubicBezTo>
                <a:close/>
                <a:moveTo>
                  <a:pt x="39195" y="770553"/>
                </a:moveTo>
                <a:lnTo>
                  <a:pt x="1082337" y="770553"/>
                </a:lnTo>
                <a:cubicBezTo>
                  <a:pt x="1077945" y="781472"/>
                  <a:pt x="1072455" y="793484"/>
                  <a:pt x="1066965" y="804404"/>
                </a:cubicBezTo>
                <a:cubicBezTo>
                  <a:pt x="1066965" y="804404"/>
                  <a:pt x="1066965" y="804404"/>
                  <a:pt x="54568" y="804404"/>
                </a:cubicBezTo>
                <a:cubicBezTo>
                  <a:pt x="49077" y="793484"/>
                  <a:pt x="44685" y="781472"/>
                  <a:pt x="39195" y="770553"/>
                </a:cubicBezTo>
                <a:close/>
                <a:moveTo>
                  <a:pt x="20488" y="714432"/>
                </a:moveTo>
                <a:lnTo>
                  <a:pt x="1101935" y="714432"/>
                </a:lnTo>
                <a:cubicBezTo>
                  <a:pt x="1098642" y="726681"/>
                  <a:pt x="1094250" y="738929"/>
                  <a:pt x="1089859" y="750065"/>
                </a:cubicBezTo>
                <a:cubicBezTo>
                  <a:pt x="1089859" y="750065"/>
                  <a:pt x="1089859" y="750065"/>
                  <a:pt x="31468" y="750065"/>
                </a:cubicBezTo>
                <a:cubicBezTo>
                  <a:pt x="27076" y="738929"/>
                  <a:pt x="23782" y="726681"/>
                  <a:pt x="20488" y="714432"/>
                </a:cubicBezTo>
                <a:close/>
                <a:moveTo>
                  <a:pt x="7126" y="660092"/>
                </a:moveTo>
                <a:lnTo>
                  <a:pt x="1114406" y="660092"/>
                </a:lnTo>
                <a:cubicBezTo>
                  <a:pt x="1112209" y="671012"/>
                  <a:pt x="1110013" y="683023"/>
                  <a:pt x="1107815" y="693943"/>
                </a:cubicBezTo>
                <a:cubicBezTo>
                  <a:pt x="1107815" y="693943"/>
                  <a:pt x="1107815" y="693943"/>
                  <a:pt x="14815" y="693943"/>
                </a:cubicBezTo>
                <a:cubicBezTo>
                  <a:pt x="12618" y="683023"/>
                  <a:pt x="9323" y="671012"/>
                  <a:pt x="7126" y="660092"/>
                </a:cubicBezTo>
                <a:close/>
                <a:moveTo>
                  <a:pt x="891" y="603972"/>
                </a:moveTo>
                <a:lnTo>
                  <a:pt x="1122424" y="603972"/>
                </a:lnTo>
                <a:cubicBezTo>
                  <a:pt x="1121326" y="615914"/>
                  <a:pt x="1120227" y="627857"/>
                  <a:pt x="1118030" y="638713"/>
                </a:cubicBezTo>
                <a:cubicBezTo>
                  <a:pt x="1118030" y="638713"/>
                  <a:pt x="1118030" y="638713"/>
                  <a:pt x="5284" y="638713"/>
                </a:cubicBezTo>
                <a:cubicBezTo>
                  <a:pt x="3087" y="627857"/>
                  <a:pt x="1989" y="615914"/>
                  <a:pt x="891" y="603972"/>
                </a:cubicBezTo>
                <a:close/>
                <a:moveTo>
                  <a:pt x="0" y="548741"/>
                </a:moveTo>
                <a:cubicBezTo>
                  <a:pt x="0" y="548741"/>
                  <a:pt x="0" y="548741"/>
                  <a:pt x="1123315" y="548741"/>
                </a:cubicBezTo>
                <a:cubicBezTo>
                  <a:pt x="1123315" y="553195"/>
                  <a:pt x="1123315" y="556535"/>
                  <a:pt x="1123315" y="560990"/>
                </a:cubicBezTo>
                <a:cubicBezTo>
                  <a:pt x="1123315" y="568785"/>
                  <a:pt x="1123315" y="576579"/>
                  <a:pt x="1123315" y="584374"/>
                </a:cubicBezTo>
                <a:cubicBezTo>
                  <a:pt x="1123315" y="584374"/>
                  <a:pt x="1123315" y="584374"/>
                  <a:pt x="0" y="584374"/>
                </a:cubicBezTo>
                <a:cubicBezTo>
                  <a:pt x="0" y="576579"/>
                  <a:pt x="0" y="568785"/>
                  <a:pt x="0" y="560990"/>
                </a:cubicBezTo>
                <a:cubicBezTo>
                  <a:pt x="0" y="556535"/>
                  <a:pt x="0" y="553195"/>
                  <a:pt x="0" y="548741"/>
                </a:cubicBezTo>
                <a:close/>
                <a:moveTo>
                  <a:pt x="3087" y="492620"/>
                </a:moveTo>
                <a:lnTo>
                  <a:pt x="1119128" y="492620"/>
                </a:lnTo>
                <a:cubicBezTo>
                  <a:pt x="1121326" y="504868"/>
                  <a:pt x="1121326" y="516004"/>
                  <a:pt x="1122424" y="528252"/>
                </a:cubicBezTo>
                <a:cubicBezTo>
                  <a:pt x="1122424" y="528252"/>
                  <a:pt x="1122424" y="528252"/>
                  <a:pt x="891" y="528252"/>
                </a:cubicBezTo>
                <a:cubicBezTo>
                  <a:pt x="891" y="516004"/>
                  <a:pt x="1989" y="504868"/>
                  <a:pt x="3087" y="492620"/>
                </a:cubicBezTo>
                <a:close/>
                <a:moveTo>
                  <a:pt x="12823" y="438280"/>
                </a:moveTo>
                <a:lnTo>
                  <a:pt x="1109601" y="438280"/>
                </a:lnTo>
                <a:cubicBezTo>
                  <a:pt x="1111797" y="449137"/>
                  <a:pt x="1113993" y="461080"/>
                  <a:pt x="1116188" y="473022"/>
                </a:cubicBezTo>
                <a:cubicBezTo>
                  <a:pt x="1116188" y="473022"/>
                  <a:pt x="1116188" y="473022"/>
                  <a:pt x="6235" y="473022"/>
                </a:cubicBezTo>
                <a:cubicBezTo>
                  <a:pt x="8431" y="461080"/>
                  <a:pt x="10627" y="449137"/>
                  <a:pt x="12823" y="438280"/>
                </a:cubicBezTo>
                <a:close/>
                <a:moveTo>
                  <a:pt x="28589" y="382159"/>
                </a:moveTo>
                <a:lnTo>
                  <a:pt x="1094726" y="382159"/>
                </a:lnTo>
                <a:cubicBezTo>
                  <a:pt x="1098020" y="394101"/>
                  <a:pt x="1101314" y="404958"/>
                  <a:pt x="1104608" y="416901"/>
                </a:cubicBezTo>
                <a:cubicBezTo>
                  <a:pt x="1104608" y="416901"/>
                  <a:pt x="1104608" y="416901"/>
                  <a:pt x="18707" y="416901"/>
                </a:cubicBezTo>
                <a:cubicBezTo>
                  <a:pt x="20903" y="404958"/>
                  <a:pt x="25295" y="394101"/>
                  <a:pt x="28589" y="382159"/>
                </a:cubicBezTo>
                <a:close/>
                <a:moveTo>
                  <a:pt x="49911" y="326929"/>
                </a:moveTo>
                <a:lnTo>
                  <a:pt x="1071414" y="326929"/>
                </a:lnTo>
                <a:cubicBezTo>
                  <a:pt x="1076906" y="338064"/>
                  <a:pt x="1082398" y="350312"/>
                  <a:pt x="1086791" y="362561"/>
                </a:cubicBezTo>
                <a:cubicBezTo>
                  <a:pt x="1086791" y="362561"/>
                  <a:pt x="1086791" y="362561"/>
                  <a:pt x="35632" y="362561"/>
                </a:cubicBezTo>
                <a:cubicBezTo>
                  <a:pt x="40026" y="350312"/>
                  <a:pt x="44419" y="338064"/>
                  <a:pt x="49911" y="326929"/>
                </a:cubicBezTo>
                <a:close/>
                <a:moveTo>
                  <a:pt x="80336" y="270808"/>
                </a:moveTo>
                <a:lnTo>
                  <a:pt x="1043184" y="270808"/>
                </a:lnTo>
                <a:cubicBezTo>
                  <a:pt x="1049772" y="283056"/>
                  <a:pt x="1056359" y="294192"/>
                  <a:pt x="1061849" y="306440"/>
                </a:cubicBezTo>
                <a:cubicBezTo>
                  <a:pt x="1061849" y="306440"/>
                  <a:pt x="1061849" y="306440"/>
                  <a:pt x="60575" y="306440"/>
                </a:cubicBezTo>
                <a:cubicBezTo>
                  <a:pt x="67162" y="294192"/>
                  <a:pt x="73749" y="283056"/>
                  <a:pt x="80336" y="270808"/>
                </a:cubicBezTo>
                <a:close/>
                <a:moveTo>
                  <a:pt x="118780" y="216468"/>
                </a:moveTo>
                <a:lnTo>
                  <a:pt x="1004535" y="216468"/>
                </a:lnTo>
                <a:cubicBezTo>
                  <a:pt x="1013315" y="227325"/>
                  <a:pt x="1022096" y="239267"/>
                  <a:pt x="1029779" y="251210"/>
                </a:cubicBezTo>
                <a:cubicBezTo>
                  <a:pt x="1029779" y="251210"/>
                  <a:pt x="1029779" y="251210"/>
                  <a:pt x="93535" y="251210"/>
                </a:cubicBezTo>
                <a:cubicBezTo>
                  <a:pt x="101218" y="239267"/>
                  <a:pt x="109999" y="227325"/>
                  <a:pt x="118780" y="216468"/>
                </a:cubicBezTo>
                <a:close/>
                <a:moveTo>
                  <a:pt x="167462" y="161237"/>
                </a:moveTo>
                <a:cubicBezTo>
                  <a:pt x="167462" y="161237"/>
                  <a:pt x="167462" y="161237"/>
                  <a:pt x="954962" y="161237"/>
                </a:cubicBezTo>
                <a:cubicBezTo>
                  <a:pt x="965945" y="172157"/>
                  <a:pt x="976928" y="183076"/>
                  <a:pt x="987911" y="195088"/>
                </a:cubicBezTo>
                <a:cubicBezTo>
                  <a:pt x="987911" y="195088"/>
                  <a:pt x="987911" y="195088"/>
                  <a:pt x="134512" y="195088"/>
                </a:cubicBezTo>
                <a:cubicBezTo>
                  <a:pt x="144398" y="183076"/>
                  <a:pt x="155381" y="172157"/>
                  <a:pt x="167462" y="161237"/>
                </a:cubicBezTo>
                <a:close/>
                <a:moveTo>
                  <a:pt x="232593" y="105116"/>
                </a:moveTo>
                <a:lnTo>
                  <a:pt x="889623" y="105116"/>
                </a:lnTo>
                <a:cubicBezTo>
                  <a:pt x="905005" y="116252"/>
                  <a:pt x="919288" y="128500"/>
                  <a:pt x="933572" y="140749"/>
                </a:cubicBezTo>
                <a:cubicBezTo>
                  <a:pt x="933572" y="140749"/>
                  <a:pt x="933572" y="140749"/>
                  <a:pt x="189743" y="140749"/>
                </a:cubicBezTo>
                <a:cubicBezTo>
                  <a:pt x="202927" y="128500"/>
                  <a:pt x="218310" y="116252"/>
                  <a:pt x="232593" y="105116"/>
                </a:cubicBezTo>
                <a:close/>
                <a:moveTo>
                  <a:pt x="328456" y="50777"/>
                </a:moveTo>
                <a:lnTo>
                  <a:pt x="793967" y="50777"/>
                </a:lnTo>
                <a:cubicBezTo>
                  <a:pt x="817023" y="60604"/>
                  <a:pt x="837883" y="71524"/>
                  <a:pt x="858743" y="84627"/>
                </a:cubicBezTo>
                <a:cubicBezTo>
                  <a:pt x="858743" y="84627"/>
                  <a:pt x="858743" y="84627"/>
                  <a:pt x="263680" y="84627"/>
                </a:cubicBezTo>
                <a:cubicBezTo>
                  <a:pt x="284540" y="71524"/>
                  <a:pt x="306498" y="60604"/>
                  <a:pt x="328456" y="50777"/>
                </a:cubicBezTo>
                <a:close/>
                <a:moveTo>
                  <a:pt x="560766" y="0"/>
                </a:moveTo>
                <a:cubicBezTo>
                  <a:pt x="624489" y="0"/>
                  <a:pt x="684915" y="9799"/>
                  <a:pt x="742046" y="29397"/>
                </a:cubicBezTo>
                <a:cubicBezTo>
                  <a:pt x="742046" y="29397"/>
                  <a:pt x="742046" y="29397"/>
                  <a:pt x="379486" y="29397"/>
                </a:cubicBezTo>
                <a:cubicBezTo>
                  <a:pt x="436617" y="9799"/>
                  <a:pt x="498142" y="0"/>
                  <a:pt x="560766" y="0"/>
                </a:cubicBezTo>
                <a:close/>
              </a:path>
            </a:pathLst>
          </a:custGeom>
          <a:gradFill flip="none" rotWithShape="1">
            <a:gsLst>
              <a:gs pos="0">
                <a:srgbClr val="1E46EB">
                  <a:alpha val="34000"/>
                </a:srgbClr>
              </a:gs>
              <a:gs pos="76000">
                <a:srgbClr val="1E46EB">
                  <a:alpha val="3000"/>
                </a:srgbClr>
              </a:gs>
              <a:gs pos="100000">
                <a:srgbClr val="1E46EB">
                  <a:alpha val="3000"/>
                </a:srgbClr>
              </a:gs>
            </a:gsLst>
            <a:lin ang="0" scaled="1"/>
          </a:gradFill>
          <a:ln/>
        </p:spPr>
      </p:sp>
      <p:sp>
        <p:nvSpPr>
          <p:cNvPr id="3" name="Text 1"/>
          <p:cNvSpPr/>
          <p:nvPr/>
        </p:nvSpPr>
        <p:spPr>
          <a:xfrm rot="1800000">
            <a:off x="325120" y="1469390"/>
            <a:ext cx="1123315" cy="11233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5630" y="487045"/>
            <a:ext cx="11160125" cy="5524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E46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整体进度量化与风险汇总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8" y="6584950"/>
            <a:ext cx="12191365" cy="152400"/>
          </a:xfrm>
          <a:prstGeom prst="rect">
            <a:avLst/>
          </a:prstGeom>
          <a:solidFill>
            <a:srgbClr val="1CA97E"/>
          </a:solidFill>
          <a:ln/>
        </p:spPr>
      </p:sp>
      <p:sp>
        <p:nvSpPr>
          <p:cNvPr id="6" name="Text 4"/>
          <p:cNvSpPr/>
          <p:nvPr/>
        </p:nvSpPr>
        <p:spPr>
          <a:xfrm>
            <a:off x="318" y="6584950"/>
            <a:ext cx="12191365" cy="152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18" y="6705600"/>
            <a:ext cx="12191365" cy="152400"/>
          </a:xfrm>
          <a:prstGeom prst="rect">
            <a:avLst/>
          </a:prstGeom>
          <a:solidFill>
            <a:srgbClr val="1E46EB"/>
          </a:solidFill>
          <a:ln/>
        </p:spPr>
      </p:sp>
      <p:sp>
        <p:nvSpPr>
          <p:cNvPr id="8" name="Text 6"/>
          <p:cNvSpPr/>
          <p:nvPr/>
        </p:nvSpPr>
        <p:spPr>
          <a:xfrm>
            <a:off x="318" y="6705600"/>
            <a:ext cx="12191365" cy="152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465455"/>
            <a:ext cx="437515" cy="647700"/>
          </a:xfrm>
          <a:prstGeom prst="rect">
            <a:avLst/>
          </a:prstGeom>
          <a:solidFill>
            <a:srgbClr val="1E46EB"/>
          </a:solidFill>
          <a:ln/>
        </p:spPr>
      </p:sp>
      <p:sp>
        <p:nvSpPr>
          <p:cNvPr id="10" name="Text 8"/>
          <p:cNvSpPr/>
          <p:nvPr/>
        </p:nvSpPr>
        <p:spPr>
          <a:xfrm>
            <a:off x="0" y="465455"/>
            <a:ext cx="437515" cy="6477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8315" y="465455"/>
            <a:ext cx="76200" cy="647700"/>
          </a:xfrm>
          <a:prstGeom prst="rect">
            <a:avLst/>
          </a:prstGeom>
          <a:solidFill>
            <a:srgbClr val="1E46EB"/>
          </a:solidFill>
          <a:ln/>
        </p:spPr>
      </p:sp>
      <p:sp>
        <p:nvSpPr>
          <p:cNvPr id="12" name="Text 10"/>
          <p:cNvSpPr/>
          <p:nvPr/>
        </p:nvSpPr>
        <p:spPr>
          <a:xfrm>
            <a:off x="488315" y="465455"/>
            <a:ext cx="76200" cy="6477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70700" y="4445"/>
            <a:ext cx="5321300" cy="6580505"/>
          </a:xfrm>
          <a:custGeom>
            <a:avLst/>
            <a:gdLst/>
            <a:ahLst/>
            <a:cxnLst/>
            <a:rect l="l" t="t" r="r" b="b"/>
            <a:pathLst>
              <a:path w="5321300" h="6580505">
                <a:moveTo>
                  <a:pt x="853585" y="0"/>
                </a:moveTo>
                <a:lnTo>
                  <a:pt x="5321300" y="0"/>
                </a:lnTo>
                <a:lnTo>
                  <a:pt x="5321300" y="6580505"/>
                </a:lnTo>
                <a:lnTo>
                  <a:pt x="916820" y="6580505"/>
                </a:lnTo>
                <a:lnTo>
                  <a:pt x="813147" y="6412810"/>
                </a:lnTo>
                <a:cubicBezTo>
                  <a:pt x="305157" y="5550353"/>
                  <a:pt x="0" y="4444664"/>
                  <a:pt x="0" y="3239111"/>
                </a:cubicBezTo>
                <a:cubicBezTo>
                  <a:pt x="0" y="2033558"/>
                  <a:pt x="305157" y="927868"/>
                  <a:pt x="813146" y="65411"/>
                </a:cubicBezTo>
                <a:close/>
              </a:path>
            </a:pathLst>
          </a:custGeom>
          <a:solidFill>
            <a:srgbClr val="1E46EB"/>
          </a:solidFill>
          <a:ln/>
        </p:spPr>
      </p:sp>
      <p:sp>
        <p:nvSpPr>
          <p:cNvPr id="14" name="Text 12"/>
          <p:cNvSpPr/>
          <p:nvPr/>
        </p:nvSpPr>
        <p:spPr>
          <a:xfrm>
            <a:off x="6870700" y="4445"/>
            <a:ext cx="5321300" cy="658050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56005" y="1828800"/>
            <a:ext cx="10176510" cy="39433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9050">
            <a:solidFill>
              <a:srgbClr val="D2DAFB"/>
            </a:solidFill>
            <a:prstDash val="solid"/>
          </a:ln>
          <a:effectLst>
            <a:outerShdw blurRad="50800" dist="50800" dir="2700000" algn="bl" rotWithShape="0">
              <a:srgbClr val="1E46EB">
                <a:alpha val="25882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56005" y="1828800"/>
            <a:ext cx="10176510" cy="39433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44578" y="2144395"/>
            <a:ext cx="0" cy="3312160"/>
          </a:xfrm>
          <a:prstGeom prst="straightConnector1">
            <a:avLst/>
          </a:prstGeom>
          <a:noFill/>
          <a:ln w="12700">
            <a:solidFill>
              <a:srgbClr val="0B207A"/>
            </a:solidFill>
            <a:prstDash val="dash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1509078" y="2271395"/>
            <a:ext cx="4285615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进度量化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09078" y="2775585"/>
            <a:ext cx="4284228" cy="10973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本次迭代需求完成率为[X]%，代码合并率为[X]%，测试通过率为[X]%，整体进度符合预期。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94463" y="2271395"/>
            <a:ext cx="4285615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风险汇总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94463" y="2775585"/>
            <a:ext cx="4284228" cy="10973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共性技术风险包括[X]，已协调资源进行技术攻关；依赖阻塞主要集中在[X]接口，已安排跨组沟通。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5630" y="487045"/>
            <a:ext cx="11160125" cy="5524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E46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下一迭代里程碑与行动项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18" y="6584950"/>
            <a:ext cx="12191365" cy="152400"/>
          </a:xfrm>
          <a:prstGeom prst="rect">
            <a:avLst/>
          </a:prstGeom>
          <a:solidFill>
            <a:srgbClr val="1CA97E"/>
          </a:solidFill>
          <a:ln/>
        </p:spPr>
      </p:sp>
      <p:sp>
        <p:nvSpPr>
          <p:cNvPr id="4" name="Text 2"/>
          <p:cNvSpPr/>
          <p:nvPr/>
        </p:nvSpPr>
        <p:spPr>
          <a:xfrm>
            <a:off x="318" y="6584950"/>
            <a:ext cx="12191365" cy="152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8" y="6705600"/>
            <a:ext cx="12191365" cy="152400"/>
          </a:xfrm>
          <a:prstGeom prst="rect">
            <a:avLst/>
          </a:prstGeom>
          <a:solidFill>
            <a:srgbClr val="1E46EB"/>
          </a:solidFill>
          <a:ln/>
        </p:spPr>
      </p:sp>
      <p:sp>
        <p:nvSpPr>
          <p:cNvPr id="6" name="Text 4"/>
          <p:cNvSpPr/>
          <p:nvPr/>
        </p:nvSpPr>
        <p:spPr>
          <a:xfrm>
            <a:off x="318" y="6705600"/>
            <a:ext cx="12191365" cy="152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65455"/>
            <a:ext cx="437515" cy="647700"/>
          </a:xfrm>
          <a:prstGeom prst="rect">
            <a:avLst/>
          </a:prstGeom>
          <a:solidFill>
            <a:srgbClr val="1E46EB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465455"/>
            <a:ext cx="437515" cy="6477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8315" y="465455"/>
            <a:ext cx="76200" cy="647700"/>
          </a:xfrm>
          <a:prstGeom prst="rect">
            <a:avLst/>
          </a:prstGeom>
          <a:solidFill>
            <a:srgbClr val="1E46EB"/>
          </a:solidFill>
          <a:ln/>
        </p:spPr>
      </p:sp>
      <p:sp>
        <p:nvSpPr>
          <p:cNvPr id="10" name="Text 8"/>
          <p:cNvSpPr/>
          <p:nvPr/>
        </p:nvSpPr>
        <p:spPr>
          <a:xfrm>
            <a:off x="488315" y="465455"/>
            <a:ext cx="76200" cy="6477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45490" y="1475105"/>
            <a:ext cx="3524312" cy="2437765"/>
          </a:xfrm>
          <a:prstGeom prst="rect">
            <a:avLst/>
          </a:prstGeom>
          <a:solidFill>
            <a:srgbClr val="1E46EB"/>
          </a:solidFill>
          <a:ln/>
        </p:spPr>
      </p:sp>
      <p:sp>
        <p:nvSpPr>
          <p:cNvPr id="12" name="Text 10"/>
          <p:cNvSpPr/>
          <p:nvPr/>
        </p:nvSpPr>
        <p:spPr>
          <a:xfrm>
            <a:off x="745490" y="1475105"/>
            <a:ext cx="3524312" cy="24377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3" name="Image 0" descr="https://kimi-img.moonshot.cn/pub/slides/slides_tmpl/image/25-09-04-17:02:54-d2slbfm1bb2p4onbqkp0.png"/>
          <p:cNvPicPr>
            <a:picLocks noChangeAspect="1"/>
          </p:cNvPicPr>
          <p:nvPr/>
        </p:nvPicPr>
        <p:blipFill>
          <a:blip r:embed="rId3"/>
          <a:srcRect l="-8" t="24" r="8" b="24"/>
          <a:stretch/>
        </p:blipFill>
        <p:spPr>
          <a:xfrm>
            <a:off x="745490" y="3977005"/>
            <a:ext cx="3524885" cy="234315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035290" y="1475105"/>
            <a:ext cx="3524312" cy="2437765"/>
          </a:xfrm>
          <a:prstGeom prst="rect">
            <a:avLst/>
          </a:prstGeom>
          <a:solidFill>
            <a:srgbClr val="1E46EB"/>
          </a:solidFill>
          <a:ln/>
        </p:spPr>
      </p:sp>
      <p:sp>
        <p:nvSpPr>
          <p:cNvPr id="15" name="Text 12"/>
          <p:cNvSpPr/>
          <p:nvPr/>
        </p:nvSpPr>
        <p:spPr>
          <a:xfrm>
            <a:off x="8035290" y="1475105"/>
            <a:ext cx="3524312" cy="24377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6" name="Image 1" descr="https://kimi-img.moonshot.cn/pub/slides/slides_tmpl/image/25-09-04-17:02:55-d2slbfu1bb2p4onbqkpg.png"/>
          <p:cNvPicPr>
            <a:picLocks noChangeAspect="1"/>
          </p:cNvPicPr>
          <p:nvPr/>
        </p:nvPicPr>
        <p:blipFill>
          <a:blip r:embed="rId4"/>
          <a:srcRect l="-8" t="24" r="8" b="24"/>
          <a:stretch/>
        </p:blipFill>
        <p:spPr>
          <a:xfrm>
            <a:off x="8035290" y="3977005"/>
            <a:ext cx="3524885" cy="234315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390390" y="3882390"/>
            <a:ext cx="3524250" cy="2437765"/>
          </a:xfrm>
          <a:prstGeom prst="rect">
            <a:avLst/>
          </a:prstGeom>
          <a:solidFill>
            <a:srgbClr val="1CA97E"/>
          </a:solidFill>
          <a:ln/>
        </p:spPr>
      </p:sp>
      <p:sp>
        <p:nvSpPr>
          <p:cNvPr id="18" name="Text 14"/>
          <p:cNvSpPr/>
          <p:nvPr/>
        </p:nvSpPr>
        <p:spPr>
          <a:xfrm>
            <a:off x="4390390" y="3882390"/>
            <a:ext cx="3524250" cy="24377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9" name="Image 2" descr="https://kimi-img.moonshot.cn/pub/slides/slides_tmpl/image/25-09-04-17:02:54-d2slbfm1bb2p4onbqkp0.png"/>
          <p:cNvPicPr>
            <a:picLocks noChangeAspect="1"/>
          </p:cNvPicPr>
          <p:nvPr/>
        </p:nvPicPr>
        <p:blipFill>
          <a:blip r:embed="rId3"/>
          <a:srcRect t="27" b="27"/>
          <a:stretch/>
        </p:blipFill>
        <p:spPr>
          <a:xfrm>
            <a:off x="4390390" y="1475105"/>
            <a:ext cx="3524885" cy="234315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74949" y="1602740"/>
            <a:ext cx="3219802" cy="2845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迭代目标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974949" y="1957070"/>
            <a:ext cx="3141061" cy="84965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下一次迭代目标是完成[X]个</a:t>
            </a:r>
            <a:r>
              <a:rPr lang="zh-CN" alt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任务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，确保系统核心功能模块的完整性和稳定性。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8203232" y="1602740"/>
            <a:ext cx="3141061" cy="2845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关键里程碑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8218611" y="1957070"/>
            <a:ext cx="3219802" cy="81875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关键里程碑包括[X]功能模块的开发完成、接口联调完成、系统测试完成，预计交付时间为[X]周。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4542950" y="4010025"/>
            <a:ext cx="3141621" cy="2845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行动项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4542950" y="4364355"/>
            <a:ext cx="3219746" cy="81875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各成员需按照计划推进任务，项目经理将定期检查进度并协调资源，确保迭代顺利进行。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9DE8A-8D00-27CB-6A10-1E99B15B8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2EFB402-E3A0-D7A6-23EC-A3E00F0941C6}"/>
              </a:ext>
            </a:extLst>
          </p:cNvPr>
          <p:cNvSpPr/>
          <p:nvPr/>
        </p:nvSpPr>
        <p:spPr>
          <a:xfrm>
            <a:off x="595630" y="487045"/>
            <a:ext cx="11160125" cy="64633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3600" b="1" dirty="0">
                <a:solidFill>
                  <a:srgbClr val="1E46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工作备忘录</a:t>
            </a:r>
            <a:endParaRPr lang="en-US" sz="1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B4C919E-55D5-3BE5-E50E-C58EB8DE4F85}"/>
              </a:ext>
            </a:extLst>
          </p:cNvPr>
          <p:cNvSpPr/>
          <p:nvPr/>
        </p:nvSpPr>
        <p:spPr>
          <a:xfrm>
            <a:off x="318" y="6584950"/>
            <a:ext cx="12191365" cy="152400"/>
          </a:xfrm>
          <a:prstGeom prst="rect">
            <a:avLst/>
          </a:prstGeom>
          <a:solidFill>
            <a:srgbClr val="1CA97E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B96218E-C2B6-9CF1-5D7F-3C94EC6B3B38}"/>
              </a:ext>
            </a:extLst>
          </p:cNvPr>
          <p:cNvSpPr/>
          <p:nvPr/>
        </p:nvSpPr>
        <p:spPr>
          <a:xfrm>
            <a:off x="318" y="6584950"/>
            <a:ext cx="12191365" cy="152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2E7CC8A-C2ED-EEF0-E4C0-AFF7601B4C9B}"/>
              </a:ext>
            </a:extLst>
          </p:cNvPr>
          <p:cNvSpPr/>
          <p:nvPr/>
        </p:nvSpPr>
        <p:spPr>
          <a:xfrm>
            <a:off x="318" y="6705600"/>
            <a:ext cx="12191365" cy="152400"/>
          </a:xfrm>
          <a:prstGeom prst="rect">
            <a:avLst/>
          </a:prstGeom>
          <a:solidFill>
            <a:srgbClr val="1E46EB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EEBFC95-B415-4B3A-155E-7B42E347A0FA}"/>
              </a:ext>
            </a:extLst>
          </p:cNvPr>
          <p:cNvSpPr/>
          <p:nvPr/>
        </p:nvSpPr>
        <p:spPr>
          <a:xfrm>
            <a:off x="318" y="6705600"/>
            <a:ext cx="12191365" cy="152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AAB0722-38DF-C7D9-0876-689F54ED335A}"/>
              </a:ext>
            </a:extLst>
          </p:cNvPr>
          <p:cNvSpPr/>
          <p:nvPr/>
        </p:nvSpPr>
        <p:spPr>
          <a:xfrm>
            <a:off x="0" y="465455"/>
            <a:ext cx="437515" cy="647700"/>
          </a:xfrm>
          <a:prstGeom prst="rect">
            <a:avLst/>
          </a:prstGeom>
          <a:solidFill>
            <a:srgbClr val="1E46EB"/>
          </a:solidFill>
          <a:ln/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B591348-81C1-FA8E-76E5-363E71379801}"/>
              </a:ext>
            </a:extLst>
          </p:cNvPr>
          <p:cNvSpPr/>
          <p:nvPr/>
        </p:nvSpPr>
        <p:spPr>
          <a:xfrm>
            <a:off x="0" y="465455"/>
            <a:ext cx="437515" cy="6477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D6FF286-DBE3-C84E-7048-C9F3AF00C192}"/>
              </a:ext>
            </a:extLst>
          </p:cNvPr>
          <p:cNvSpPr/>
          <p:nvPr/>
        </p:nvSpPr>
        <p:spPr>
          <a:xfrm>
            <a:off x="488315" y="465455"/>
            <a:ext cx="76200" cy="647700"/>
          </a:xfrm>
          <a:prstGeom prst="rect">
            <a:avLst/>
          </a:prstGeom>
          <a:solidFill>
            <a:srgbClr val="1E46EB"/>
          </a:solidFill>
          <a:ln/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2116FF4-8FB0-0A64-11D9-F2EB6456FD9E}"/>
              </a:ext>
            </a:extLst>
          </p:cNvPr>
          <p:cNvSpPr/>
          <p:nvPr/>
        </p:nvSpPr>
        <p:spPr>
          <a:xfrm>
            <a:off x="488315" y="465455"/>
            <a:ext cx="76200" cy="6477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5B36919-7AF8-67D7-6B3D-8801E5A3F9A5}"/>
              </a:ext>
            </a:extLst>
          </p:cNvPr>
          <p:cNvSpPr/>
          <p:nvPr/>
        </p:nvSpPr>
        <p:spPr>
          <a:xfrm>
            <a:off x="1107440" y="1808480"/>
            <a:ext cx="171450" cy="44196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BA7486D-2E1C-BA4B-68D4-8173A0D27FE1}"/>
              </a:ext>
            </a:extLst>
          </p:cNvPr>
          <p:cNvSpPr/>
          <p:nvPr/>
        </p:nvSpPr>
        <p:spPr>
          <a:xfrm>
            <a:off x="1329690" y="1808480"/>
            <a:ext cx="2990850" cy="44196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FE5AA8C-B5C5-AB33-68AA-69A866022334}"/>
              </a:ext>
            </a:extLst>
          </p:cNvPr>
          <p:cNvSpPr/>
          <p:nvPr/>
        </p:nvSpPr>
        <p:spPr>
          <a:xfrm>
            <a:off x="4796790" y="1808480"/>
            <a:ext cx="171450" cy="44196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AC8304C-A459-E89E-5A03-1BAA55779A26}"/>
              </a:ext>
            </a:extLst>
          </p:cNvPr>
          <p:cNvSpPr/>
          <p:nvPr/>
        </p:nvSpPr>
        <p:spPr>
          <a:xfrm>
            <a:off x="8486140" y="1808480"/>
            <a:ext cx="171450" cy="44196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graphicFrame>
        <p:nvGraphicFramePr>
          <p:cNvPr id="29" name="表格 28">
            <a:extLst>
              <a:ext uri="{FF2B5EF4-FFF2-40B4-BE49-F238E27FC236}">
                <a16:creationId xmlns:a16="http://schemas.microsoft.com/office/drawing/2014/main" id="{396CCA36-08BF-3784-2CC5-4724301B59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6336254"/>
              </p:ext>
            </p:extLst>
          </p:nvPr>
        </p:nvGraphicFramePr>
        <p:xfrm>
          <a:off x="364721" y="1325253"/>
          <a:ext cx="7645400" cy="31432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31928134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74470136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970426649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1707548285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35680657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301810529"/>
                    </a:ext>
                  </a:extLst>
                </a:gridCol>
                <a:gridCol w="2908300">
                  <a:extLst>
                    <a:ext uri="{9D8B030D-6E8A-4147-A177-3AD203B41FA5}">
                      <a16:colId xmlns:a16="http://schemas.microsoft.com/office/drawing/2014/main" val="315058309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任务编号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任务描述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任务负责人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计划任务周期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任务状态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风险等级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备注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4491955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xxxxx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WK1-2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完成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低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 dirty="0">
                          <a:effectLst/>
                        </a:rPr>
                        <a:t>　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7237735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XXXxx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B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WK3-4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行进中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高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 dirty="0">
                          <a:effectLst/>
                        </a:rPr>
                        <a:t>　遇到技术难题，正在寻求解决方案。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96864863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xxxxx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B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WK5-6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未开始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中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 dirty="0">
                          <a:effectLst/>
                        </a:rPr>
                        <a:t>　由于任务</a:t>
                      </a:r>
                      <a:r>
                        <a:rPr lang="en-US" altLang="zh-CN" sz="1100" u="none" strike="noStrike" dirty="0">
                          <a:effectLst/>
                        </a:rPr>
                        <a:t>2</a:t>
                      </a:r>
                      <a:r>
                        <a:rPr lang="zh-CN" altLang="en-US" sz="1100" u="none" strike="noStrike" dirty="0">
                          <a:effectLst/>
                        </a:rPr>
                        <a:t>极有可能延期，导致本任务推迟。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65742998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xxxxx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WK1-2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7287139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xxxxx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WK3-4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41754180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…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…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51765603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…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…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94440726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…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…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 dirty="0">
                          <a:effectLst/>
                        </a:rPr>
                        <a:t>　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8129207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…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u="none" strike="noStrike" dirty="0">
                          <a:effectLst/>
                        </a:rPr>
                        <a:t>未分配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…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58783290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59051241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93670154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6017963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91139976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…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u="none" strike="noStrike" dirty="0">
                          <a:effectLst/>
                        </a:rPr>
                        <a:t>未分配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…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 dirty="0">
                          <a:effectLst/>
                        </a:rPr>
                        <a:t>　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313220557"/>
                  </a:ext>
                </a:extLst>
              </a:tr>
            </a:tbl>
          </a:graphicData>
        </a:graphic>
      </p:graphicFrame>
      <p:sp>
        <p:nvSpPr>
          <p:cNvPr id="30" name="文本框 29">
            <a:extLst>
              <a:ext uri="{FF2B5EF4-FFF2-40B4-BE49-F238E27FC236}">
                <a16:creationId xmlns:a16="http://schemas.microsoft.com/office/drawing/2014/main" id="{933CDE12-FACE-8553-E311-328AA74DE000}"/>
              </a:ext>
            </a:extLst>
          </p:cNvPr>
          <p:cNvSpPr txBox="1"/>
          <p:nvPr/>
        </p:nvSpPr>
        <p:spPr>
          <a:xfrm>
            <a:off x="437515" y="5056816"/>
            <a:ext cx="83259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任务备忘录由项目经理将本项目所有的工作任务拆解并录入。</a:t>
            </a:r>
            <a:endParaRPr lang="en-US" altLang="zh-CN" dirty="0"/>
          </a:p>
          <a:p>
            <a:r>
              <a:rPr lang="zh-CN" altLang="en-US" dirty="0"/>
              <a:t>每个任务的工作量应当合适，建议</a:t>
            </a:r>
            <a:r>
              <a:rPr lang="en-US" altLang="zh-CN" dirty="0"/>
              <a:t>2</a:t>
            </a:r>
            <a:r>
              <a:rPr lang="zh-CN" altLang="en-US" dirty="0"/>
              <a:t>周，允许个别</a:t>
            </a:r>
            <a:r>
              <a:rPr lang="en-US" altLang="zh-CN" dirty="0"/>
              <a:t>3-4</a:t>
            </a:r>
            <a:r>
              <a:rPr lang="zh-CN" altLang="en-US" dirty="0"/>
              <a:t>周。过大必须进一步拆解。</a:t>
            </a:r>
          </a:p>
        </p:txBody>
      </p:sp>
    </p:spTree>
    <p:extLst>
      <p:ext uri="{BB962C8B-B14F-4D97-AF65-F5344CB8AC3E}">
        <p14:creationId xmlns:p14="http://schemas.microsoft.com/office/powerpoint/2010/main" val="284002346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E46EB"/>
      </a:accent1>
      <a:accent2>
        <a:srgbClr val="1CA97E"/>
      </a:accent2>
      <a:accent3>
        <a:srgbClr val="5D91F0"/>
      </a:accent3>
      <a:accent4>
        <a:srgbClr val="000000"/>
      </a:accent4>
      <a:accent5>
        <a:srgbClr val="FFFFFF"/>
      </a:accent5>
      <a:accent6>
        <a:srgbClr val="FF9202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437</Words>
  <PresentationFormat>宽屏</PresentationFormat>
  <Paragraphs>155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MiSans</vt:lpstr>
      <vt:lpstr>微软雅黑</vt:lpstr>
      <vt:lpstr>Arial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2025-10-15T06:33:24Z</dcterms:created>
  <dcterms:modified xsi:type="dcterms:W3CDTF">2025-10-15T07:15:44Z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{"Label":"软件实践双周进度汇报模板","ContentProducer":"001191110108MACG2KBH8F10000","ProduceID":"d3njv3oh947b06h31fdg","ReservedCode1":"","ContentPropagator":"001191110108MACG2KBH8F20000","PropagateID":"d3njv3oh947b06h31fdg","ReservedCode2":""}</vt:lpwstr>
  </property>
</Properties>
</file>